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6" r:id="rId2"/>
  </p:sldIdLst>
  <p:sldSz cx="438912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13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nda Nicole Ferguson" initials="ANF" lastIdx="8" clrIdx="0"/>
  <p:cmAuthor id="2" name="Abigail King" initials="AK"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1E1"/>
    <a:srgbClr val="FFFFCC"/>
    <a:srgbClr val="CCECFF"/>
    <a:srgbClr val="FFCCCC"/>
    <a:srgbClr val="FFFFFF"/>
    <a:srgbClr val="F5CB2E"/>
    <a:srgbClr val="D60093"/>
    <a:srgbClr val="E3B32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F9953F-6B56-0F79-3C15-71CA30FEDBD2}" v="2" dt="2025-11-03T02:50:24.4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890" autoAdjust="0"/>
    <p:restoredTop sz="94660" autoAdjust="0"/>
  </p:normalViewPr>
  <p:slideViewPr>
    <p:cSldViewPr>
      <p:cViewPr>
        <p:scale>
          <a:sx n="47" d="100"/>
          <a:sy n="47" d="100"/>
        </p:scale>
        <p:origin x="-760" y="184"/>
      </p:cViewPr>
      <p:guideLst>
        <p:guide orient="horz" pos="3888"/>
        <p:guide pos="13872"/>
      </p:guideLst>
    </p:cSldViewPr>
  </p:slideViewPr>
  <p:outlineViewPr>
    <p:cViewPr>
      <p:scale>
        <a:sx n="25" d="100"/>
        <a:sy n="25"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4/16/26</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099"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fld id="{7350F54E-324E-4420-A58C-1451A26E1E91}" type="slidenum">
              <a:rPr lang="en-US" sz="300" smtClean="0"/>
              <a:pPr/>
              <a:t>1</a:t>
            </a:fld>
            <a:endParaRPr lang="en-US" sz="300"/>
          </a:p>
        </p:txBody>
      </p:sp>
    </p:spTree>
    <p:extLst>
      <p:ext uri="{BB962C8B-B14F-4D97-AF65-F5344CB8AC3E}">
        <p14:creationId xmlns:p14="http://schemas.microsoft.com/office/powerpoint/2010/main" val="356588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0888" y="9510713"/>
            <a:ext cx="18578512"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9510713"/>
            <a:ext cx="18578513"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750" y="2924175"/>
            <a:ext cx="932656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0888" y="2924175"/>
            <a:ext cx="27830462" cy="26336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90888" y="2924175"/>
            <a:ext cx="37309425" cy="548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3290888" y="9510713"/>
            <a:ext cx="37309425" cy="1975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0888"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6700" b="0"/>
            </a:lvl1pPr>
          </a:lstStyle>
          <a:p>
            <a:pPr>
              <a:defRPr/>
            </a:pPr>
            <a:endParaRPr lang="en-US"/>
          </a:p>
        </p:txBody>
      </p:sp>
      <p:sp>
        <p:nvSpPr>
          <p:cNvPr id="1029" name="Rectangle 5"/>
          <p:cNvSpPr>
            <a:spLocks noGrp="1" noChangeArrowheads="1"/>
          </p:cNvSpPr>
          <p:nvPr>
            <p:ph type="ftr" sz="quarter" idx="3"/>
          </p:nvPr>
        </p:nvSpPr>
        <p:spPr bwMode="auto">
          <a:xfrm>
            <a:off x="14997113" y="29994225"/>
            <a:ext cx="13896975"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6700" b="0"/>
            </a:lvl1pPr>
          </a:lstStyle>
          <a:p>
            <a:pPr>
              <a:defRPr/>
            </a:pPr>
            <a:endParaRPr lang="en-US"/>
          </a:p>
        </p:txBody>
      </p:sp>
      <p:sp>
        <p:nvSpPr>
          <p:cNvPr id="1030" name="Rectangle 6"/>
          <p:cNvSpPr>
            <a:spLocks noGrp="1" noChangeArrowheads="1"/>
          </p:cNvSpPr>
          <p:nvPr>
            <p:ph type="sldNum" sz="quarter" idx="4"/>
          </p:nvPr>
        </p:nvSpPr>
        <p:spPr bwMode="auto">
          <a:xfrm>
            <a:off x="31456313"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6700"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7850" rtl="0" eaLnBrk="0" fontAlgn="base" hangingPunct="0">
        <a:spcBef>
          <a:spcPct val="0"/>
        </a:spcBef>
        <a:spcAft>
          <a:spcPct val="0"/>
        </a:spcAft>
        <a:defRPr sz="21000">
          <a:solidFill>
            <a:schemeClr val="tx2"/>
          </a:solidFill>
          <a:latin typeface="+mj-lt"/>
          <a:ea typeface="+mj-ea"/>
          <a:cs typeface="+mj-cs"/>
        </a:defRPr>
      </a:lvl1pPr>
      <a:lvl2pPr algn="ctr" defTabSz="4387850" rtl="0" eaLnBrk="0" fontAlgn="base" hangingPunct="0">
        <a:spcBef>
          <a:spcPct val="0"/>
        </a:spcBef>
        <a:spcAft>
          <a:spcPct val="0"/>
        </a:spcAft>
        <a:defRPr sz="21000">
          <a:solidFill>
            <a:schemeClr val="tx2"/>
          </a:solidFill>
          <a:latin typeface="Times New Roman" pitchFamily="18" charset="0"/>
        </a:defRPr>
      </a:lvl2pPr>
      <a:lvl3pPr algn="ctr" defTabSz="4387850" rtl="0" eaLnBrk="0" fontAlgn="base" hangingPunct="0">
        <a:spcBef>
          <a:spcPct val="0"/>
        </a:spcBef>
        <a:spcAft>
          <a:spcPct val="0"/>
        </a:spcAft>
        <a:defRPr sz="21000">
          <a:solidFill>
            <a:schemeClr val="tx2"/>
          </a:solidFill>
          <a:latin typeface="Times New Roman" pitchFamily="18" charset="0"/>
        </a:defRPr>
      </a:lvl3pPr>
      <a:lvl4pPr algn="ctr" defTabSz="4387850" rtl="0" eaLnBrk="0" fontAlgn="base" hangingPunct="0">
        <a:spcBef>
          <a:spcPct val="0"/>
        </a:spcBef>
        <a:spcAft>
          <a:spcPct val="0"/>
        </a:spcAft>
        <a:defRPr sz="21000">
          <a:solidFill>
            <a:schemeClr val="tx2"/>
          </a:solidFill>
          <a:latin typeface="Times New Roman" pitchFamily="18" charset="0"/>
        </a:defRPr>
      </a:lvl4pPr>
      <a:lvl5pPr algn="ctr" defTabSz="4387850" rtl="0" eaLnBrk="0" fontAlgn="base" hangingPunct="0">
        <a:spcBef>
          <a:spcPct val="0"/>
        </a:spcBef>
        <a:spcAft>
          <a:spcPct val="0"/>
        </a:spcAft>
        <a:defRPr sz="21000">
          <a:solidFill>
            <a:schemeClr val="tx2"/>
          </a:solidFill>
          <a:latin typeface="Times New Roman" pitchFamily="18" charset="0"/>
        </a:defRPr>
      </a:lvl5pPr>
      <a:lvl6pPr marL="457200" algn="ctr" defTabSz="4387850" rtl="0" eaLnBrk="0" fontAlgn="base" hangingPunct="0">
        <a:spcBef>
          <a:spcPct val="0"/>
        </a:spcBef>
        <a:spcAft>
          <a:spcPct val="0"/>
        </a:spcAft>
        <a:defRPr sz="21000">
          <a:solidFill>
            <a:schemeClr val="tx2"/>
          </a:solidFill>
          <a:latin typeface="Times New Roman" pitchFamily="18" charset="0"/>
        </a:defRPr>
      </a:lvl6pPr>
      <a:lvl7pPr marL="914400" algn="ctr" defTabSz="4387850" rtl="0" eaLnBrk="0" fontAlgn="base" hangingPunct="0">
        <a:spcBef>
          <a:spcPct val="0"/>
        </a:spcBef>
        <a:spcAft>
          <a:spcPct val="0"/>
        </a:spcAft>
        <a:defRPr sz="21000">
          <a:solidFill>
            <a:schemeClr val="tx2"/>
          </a:solidFill>
          <a:latin typeface="Times New Roman" pitchFamily="18" charset="0"/>
        </a:defRPr>
      </a:lvl7pPr>
      <a:lvl8pPr marL="1371600" algn="ctr" defTabSz="4387850" rtl="0" eaLnBrk="0" fontAlgn="base" hangingPunct="0">
        <a:spcBef>
          <a:spcPct val="0"/>
        </a:spcBef>
        <a:spcAft>
          <a:spcPct val="0"/>
        </a:spcAft>
        <a:defRPr sz="21000">
          <a:solidFill>
            <a:schemeClr val="tx2"/>
          </a:solidFill>
          <a:latin typeface="Times New Roman" pitchFamily="18" charset="0"/>
        </a:defRPr>
      </a:lvl8pPr>
      <a:lvl9pPr marL="1828800" algn="ctr" defTabSz="4387850" rtl="0" eaLnBrk="0" fontAlgn="base" hangingPunct="0">
        <a:spcBef>
          <a:spcPct val="0"/>
        </a:spcBef>
        <a:spcAft>
          <a:spcPct val="0"/>
        </a:spcAft>
        <a:defRPr sz="21000">
          <a:solidFill>
            <a:schemeClr val="tx2"/>
          </a:solidFill>
          <a:latin typeface="Times New Roman" pitchFamily="18" charset="0"/>
        </a:defRPr>
      </a:lvl9pPr>
    </p:titleStyle>
    <p:bodyStyle>
      <a:lvl1pPr marL="1647825" indent="-1647825" algn="l" defTabSz="4387850" rtl="0" eaLnBrk="0" fontAlgn="base" hangingPunct="0">
        <a:spcBef>
          <a:spcPct val="20000"/>
        </a:spcBef>
        <a:spcAft>
          <a:spcPct val="0"/>
        </a:spcAft>
        <a:buChar char="•"/>
        <a:defRPr sz="15300">
          <a:solidFill>
            <a:schemeClr val="tx1"/>
          </a:solidFill>
          <a:latin typeface="+mn-lt"/>
          <a:ea typeface="+mn-ea"/>
          <a:cs typeface="+mn-cs"/>
        </a:defRPr>
      </a:lvl1pPr>
      <a:lvl2pPr marL="3565525" indent="-1370013" algn="l" defTabSz="4387850" rtl="0" eaLnBrk="0" fontAlgn="base" hangingPunct="0">
        <a:spcBef>
          <a:spcPct val="20000"/>
        </a:spcBef>
        <a:spcAft>
          <a:spcPct val="0"/>
        </a:spcAft>
        <a:buChar char="–"/>
        <a:defRPr sz="13300">
          <a:solidFill>
            <a:schemeClr val="tx1"/>
          </a:solidFill>
          <a:latin typeface="+mn-lt"/>
        </a:defRPr>
      </a:lvl2pPr>
      <a:lvl3pPr marL="5486400" indent="-1098550" algn="l" defTabSz="4387850" rtl="0" eaLnBrk="0" fontAlgn="base" hangingPunct="0">
        <a:spcBef>
          <a:spcPct val="20000"/>
        </a:spcBef>
        <a:spcAft>
          <a:spcPct val="0"/>
        </a:spcAft>
        <a:buChar char="•"/>
        <a:defRPr sz="11600">
          <a:solidFill>
            <a:schemeClr val="tx1"/>
          </a:solidFill>
          <a:latin typeface="+mn-lt"/>
        </a:defRPr>
      </a:lvl3pPr>
      <a:lvl4pPr marL="7678738" indent="-1093788" algn="l" defTabSz="4387850" rtl="0" eaLnBrk="0" fontAlgn="base" hangingPunct="0">
        <a:spcBef>
          <a:spcPct val="20000"/>
        </a:spcBef>
        <a:spcAft>
          <a:spcPct val="0"/>
        </a:spcAft>
        <a:buChar char="–"/>
        <a:defRPr sz="9600">
          <a:solidFill>
            <a:schemeClr val="tx1"/>
          </a:solidFill>
          <a:latin typeface="+mn-lt"/>
        </a:defRPr>
      </a:lvl4pPr>
      <a:lvl5pPr marL="9875838" indent="-1098550" algn="l" defTabSz="4387850" rtl="0" eaLnBrk="0" fontAlgn="base" hangingPunct="0">
        <a:spcBef>
          <a:spcPct val="20000"/>
        </a:spcBef>
        <a:spcAft>
          <a:spcPct val="0"/>
        </a:spcAft>
        <a:buChar char="»"/>
        <a:defRPr sz="9600">
          <a:solidFill>
            <a:schemeClr val="tx1"/>
          </a:solidFill>
          <a:latin typeface="+mn-lt"/>
        </a:defRPr>
      </a:lvl5pPr>
      <a:lvl6pPr marL="10333038" indent="-1098550" algn="l" defTabSz="4387850" rtl="0" eaLnBrk="0" fontAlgn="base" hangingPunct="0">
        <a:spcBef>
          <a:spcPct val="20000"/>
        </a:spcBef>
        <a:spcAft>
          <a:spcPct val="0"/>
        </a:spcAft>
        <a:buChar char="»"/>
        <a:defRPr sz="9600">
          <a:solidFill>
            <a:schemeClr val="tx1"/>
          </a:solidFill>
          <a:latin typeface="+mn-lt"/>
        </a:defRPr>
      </a:lvl6pPr>
      <a:lvl7pPr marL="10790238" indent="-1098550" algn="l" defTabSz="4387850" rtl="0" eaLnBrk="0" fontAlgn="base" hangingPunct="0">
        <a:spcBef>
          <a:spcPct val="20000"/>
        </a:spcBef>
        <a:spcAft>
          <a:spcPct val="0"/>
        </a:spcAft>
        <a:buChar char="»"/>
        <a:defRPr sz="9600">
          <a:solidFill>
            <a:schemeClr val="tx1"/>
          </a:solidFill>
          <a:latin typeface="+mn-lt"/>
        </a:defRPr>
      </a:lvl7pPr>
      <a:lvl8pPr marL="11247438" indent="-1098550" algn="l" defTabSz="4387850" rtl="0" eaLnBrk="0" fontAlgn="base" hangingPunct="0">
        <a:spcBef>
          <a:spcPct val="20000"/>
        </a:spcBef>
        <a:spcAft>
          <a:spcPct val="0"/>
        </a:spcAft>
        <a:buChar char="»"/>
        <a:defRPr sz="9600">
          <a:solidFill>
            <a:schemeClr val="tx1"/>
          </a:solidFill>
          <a:latin typeface="+mn-lt"/>
        </a:defRPr>
      </a:lvl8pPr>
      <a:lvl9pPr marL="11704638" indent="-1098550" algn="l" defTabSz="4387850" rtl="0" eaLnBrk="0" fontAlgn="base" hangingPunct="0">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51"/>
          <p:cNvSpPr>
            <a:spLocks noChangeArrowheads="1"/>
          </p:cNvSpPr>
          <p:nvPr/>
        </p:nvSpPr>
        <p:spPr bwMode="auto">
          <a:xfrm>
            <a:off x="2147483647" y="2147483647"/>
            <a:ext cx="2147482688"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225903" tIns="112951" rIns="225903" bIns="112951">
            <a:spAutoFit/>
          </a:bodyPr>
          <a:lstStyle/>
          <a:p>
            <a:pPr algn="l" defTabSz="2259013">
              <a:lnSpc>
                <a:spcPct val="100000"/>
              </a:lnSpc>
              <a:spcBef>
                <a:spcPct val="0"/>
              </a:spcBef>
            </a:pPr>
            <a:r>
              <a:rPr lang="en-US" sz="7700" b="0"/>
              <a:t> </a:t>
            </a:r>
            <a:endParaRPr lang="en-US" sz="5900" b="0"/>
          </a:p>
        </p:txBody>
      </p:sp>
      <p:sp>
        <p:nvSpPr>
          <p:cNvPr id="1036" name="Text Box 89"/>
          <p:cNvSpPr txBox="1">
            <a:spLocks noChangeArrowheads="1"/>
          </p:cNvSpPr>
          <p:nvPr/>
        </p:nvSpPr>
        <p:spPr bwMode="auto">
          <a:xfrm>
            <a:off x="18619788" y="1143000"/>
            <a:ext cx="6318250" cy="760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a:p>
        </p:txBody>
      </p:sp>
      <p:sp>
        <p:nvSpPr>
          <p:cNvPr id="1037" name="Rectangle 90"/>
          <p:cNvSpPr>
            <a:spLocks noChangeArrowheads="1"/>
          </p:cNvSpPr>
          <p:nvPr/>
        </p:nvSpPr>
        <p:spPr bwMode="auto">
          <a:xfrm>
            <a:off x="9525000" y="275511"/>
            <a:ext cx="25151556" cy="3048000"/>
          </a:xfrm>
          <a:prstGeom prst="rect">
            <a:avLst/>
          </a:prstGeom>
          <a:solidFill>
            <a:srgbClr val="F5CB2E"/>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225903" tIns="112951" rIns="225903" bIns="112951" anchor="ctr">
            <a:noAutofit/>
          </a:bodyPr>
          <a:lstStyle/>
          <a:p>
            <a:r>
              <a:rPr lang="en-US" sz="6000" dirty="0"/>
              <a:t>Replicating and Extending IMM-TSF: A Benchmarking Study on Irregular Multimodal Air Quality Data</a:t>
            </a:r>
          </a:p>
          <a:p>
            <a:r>
              <a:rPr lang="en-US" sz="4800" b="0" dirty="0"/>
              <a:t>Anil Vallepu, Param Venkat Vivek Kesireddy, Vineetha Burugupalli </a:t>
            </a:r>
          </a:p>
          <a:p>
            <a:pPr defTabSz="2259013">
              <a:lnSpc>
                <a:spcPct val="100000"/>
              </a:lnSpc>
              <a:spcBef>
                <a:spcPts val="0"/>
              </a:spcBef>
            </a:pPr>
            <a:r>
              <a:rPr lang="en-US" sz="4800" b="0" dirty="0"/>
              <a:t>Advisor: Dr. Bin Luo</a:t>
            </a:r>
          </a:p>
        </p:txBody>
      </p:sp>
      <p:sp>
        <p:nvSpPr>
          <p:cNvPr id="1039" name="Text Box 729"/>
          <p:cNvSpPr txBox="1">
            <a:spLocks noChangeArrowheads="1"/>
          </p:cNvSpPr>
          <p:nvPr/>
        </p:nvSpPr>
        <p:spPr bwMode="auto">
          <a:xfrm>
            <a:off x="15240000" y="9448800"/>
            <a:ext cx="2327275" cy="760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endParaRPr lang="en-US"/>
          </a:p>
        </p:txBody>
      </p:sp>
      <p:grpSp>
        <p:nvGrpSpPr>
          <p:cNvPr id="13" name="Group 12"/>
          <p:cNvGrpSpPr/>
          <p:nvPr/>
        </p:nvGrpSpPr>
        <p:grpSpPr>
          <a:xfrm>
            <a:off x="32994600" y="3571776"/>
            <a:ext cx="10668000" cy="1680818"/>
            <a:chOff x="381000" y="13445047"/>
            <a:chExt cx="10896600" cy="1650447"/>
          </a:xfrm>
        </p:grpSpPr>
        <p:sp>
          <p:nvSpPr>
            <p:cNvPr id="1031" name="Text Box 15"/>
            <p:cNvSpPr txBox="1">
              <a:spLocks noChangeArrowheads="1"/>
            </p:cNvSpPr>
            <p:nvPr/>
          </p:nvSpPr>
          <p:spPr bwMode="auto">
            <a:xfrm>
              <a:off x="381000" y="13445047"/>
              <a:ext cx="10811330" cy="937215"/>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SYSTEM ARCHITECTURE</a:t>
              </a:r>
            </a:p>
          </p:txBody>
        </p:sp>
        <p:sp>
          <p:nvSpPr>
            <p:cNvPr id="28" name="TextBox 27"/>
            <p:cNvSpPr txBox="1"/>
            <p:nvPr/>
          </p:nvSpPr>
          <p:spPr>
            <a:xfrm>
              <a:off x="457200" y="14439193"/>
              <a:ext cx="10820400" cy="656301"/>
            </a:xfrm>
            <a:prstGeom prst="rect">
              <a:avLst/>
            </a:prstGeom>
            <a:noFill/>
          </p:spPr>
          <p:txBody>
            <a:bodyPr wrap="square" rtlCol="0">
              <a:spAutoFit/>
            </a:bodyPr>
            <a:lstStyle/>
            <a:p>
              <a:pPr algn="l">
                <a:lnSpc>
                  <a:spcPct val="100000"/>
                </a:lnSpc>
                <a:spcBef>
                  <a:spcPts val="0"/>
                </a:spcBef>
              </a:pPr>
              <a:endParaRPr lang="en-US" sz="3400" b="0" dirty="0"/>
            </a:p>
          </p:txBody>
        </p:sp>
      </p:grpSp>
      <p:grpSp>
        <p:nvGrpSpPr>
          <p:cNvPr id="12" name="Group 11"/>
          <p:cNvGrpSpPr/>
          <p:nvPr/>
        </p:nvGrpSpPr>
        <p:grpSpPr>
          <a:xfrm>
            <a:off x="161784" y="3528522"/>
            <a:ext cx="43626956" cy="13727563"/>
            <a:chOff x="267898" y="3595422"/>
            <a:chExt cx="43626956" cy="13727563"/>
          </a:xfrm>
        </p:grpSpPr>
        <p:sp>
          <p:nvSpPr>
            <p:cNvPr id="48" name="TextBox 47"/>
            <p:cNvSpPr txBox="1"/>
            <p:nvPr/>
          </p:nvSpPr>
          <p:spPr>
            <a:xfrm>
              <a:off x="457200" y="4479085"/>
              <a:ext cx="10744200" cy="583750"/>
            </a:xfrm>
            <a:prstGeom prst="rect">
              <a:avLst/>
            </a:prstGeom>
            <a:noFill/>
          </p:spPr>
          <p:txBody>
            <a:bodyPr wrap="square" rtlCol="0">
              <a:spAutoFit/>
            </a:bodyPr>
            <a:lstStyle/>
            <a:p>
              <a:pPr marL="457200" marR="0" indent="-457200" algn="l">
                <a:lnSpc>
                  <a:spcPct val="107000"/>
                </a:lnSpc>
                <a:spcBef>
                  <a:spcPts val="0"/>
                </a:spcBef>
                <a:spcAft>
                  <a:spcPts val="0"/>
                </a:spcAft>
                <a:buFont typeface="Arial" panose="020B0604020202020204" pitchFamily="34" charset="0"/>
                <a:buChar char="•"/>
              </a:pPr>
              <a:endParaRPr lang="en-US" sz="3200" b="0" kern="100" dirty="0">
                <a:effectLst/>
                <a:latin typeface="+mj-lt"/>
                <a:ea typeface="Calibri" panose="020F0502020204030204" pitchFamily="34" charset="0"/>
                <a:cs typeface="Times New Roman" panose="02020603050405020304" pitchFamily="18" charset="0"/>
              </a:endParaRPr>
            </a:p>
          </p:txBody>
        </p:sp>
        <p:grpSp>
          <p:nvGrpSpPr>
            <p:cNvPr id="10" name="Group 9"/>
            <p:cNvGrpSpPr/>
            <p:nvPr/>
          </p:nvGrpSpPr>
          <p:grpSpPr>
            <a:xfrm>
              <a:off x="267898" y="3595422"/>
              <a:ext cx="43626956" cy="13727563"/>
              <a:chOff x="267898" y="3595422"/>
              <a:chExt cx="43626956" cy="13727563"/>
            </a:xfrm>
          </p:grpSpPr>
          <p:sp>
            <p:nvSpPr>
              <p:cNvPr id="1030" name="Text Box 12"/>
              <p:cNvSpPr txBox="1">
                <a:spLocks noChangeArrowheads="1"/>
              </p:cNvSpPr>
              <p:nvPr/>
            </p:nvSpPr>
            <p:spPr bwMode="auto">
              <a:xfrm>
                <a:off x="267898" y="3595422"/>
                <a:ext cx="11078946" cy="984726"/>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ABSTRACT</a:t>
                </a:r>
              </a:p>
            </p:txBody>
          </p:sp>
          <p:sp>
            <p:nvSpPr>
              <p:cNvPr id="26" name="Text Box 18"/>
              <p:cNvSpPr txBox="1">
                <a:spLocks noChangeArrowheads="1"/>
              </p:cNvSpPr>
              <p:nvPr/>
            </p:nvSpPr>
            <p:spPr bwMode="auto">
              <a:xfrm>
                <a:off x="33226854" y="16503946"/>
                <a:ext cx="10668000" cy="819039"/>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4800" dirty="0"/>
                  <a:t>CONCLUSION</a:t>
                </a:r>
              </a:p>
            </p:txBody>
          </p:sp>
        </p:grpSp>
      </p:grpSp>
      <p:sp>
        <p:nvSpPr>
          <p:cNvPr id="15" name="TextBox 14">
            <a:extLst>
              <a:ext uri="{FF2B5EF4-FFF2-40B4-BE49-F238E27FC236}">
                <a16:creationId xmlns:a16="http://schemas.microsoft.com/office/drawing/2014/main" id="{47D59986-77E3-B944-CBAE-F10E4F21A1F4}"/>
              </a:ext>
            </a:extLst>
          </p:cNvPr>
          <p:cNvSpPr txBox="1"/>
          <p:nvPr/>
        </p:nvSpPr>
        <p:spPr>
          <a:xfrm>
            <a:off x="11271837" y="4566423"/>
            <a:ext cx="22302442" cy="1118563"/>
          </a:xfrm>
          <a:prstGeom prst="rect">
            <a:avLst/>
          </a:prstGeom>
          <a:noFill/>
        </p:spPr>
        <p:txBody>
          <a:bodyPr wrap="square" rtlCol="0">
            <a:spAutoFit/>
          </a:bodyPr>
          <a:lstStyle/>
          <a:p>
            <a:pPr marL="457200" indent="-457200" algn="l">
              <a:lnSpc>
                <a:spcPct val="100000"/>
              </a:lnSpc>
              <a:spcBef>
                <a:spcPts val="0"/>
              </a:spcBef>
              <a:buFont typeface="Arial" panose="020B0604020202020204" pitchFamily="34" charset="0"/>
              <a:buChar char="•"/>
            </a:pPr>
            <a:endParaRPr lang="en-US" sz="3200" b="0" dirty="0"/>
          </a:p>
          <a:p>
            <a:pPr marL="457200" indent="-457200" algn="l">
              <a:lnSpc>
                <a:spcPct val="100000"/>
              </a:lnSpc>
              <a:spcBef>
                <a:spcPts val="0"/>
              </a:spcBef>
              <a:buFont typeface="Arial" panose="020B0604020202020204" pitchFamily="34" charset="0"/>
              <a:buChar char="•"/>
            </a:pPr>
            <a:endParaRPr lang="en-US" sz="3200" b="0" dirty="0"/>
          </a:p>
        </p:txBody>
      </p:sp>
      <p:grpSp>
        <p:nvGrpSpPr>
          <p:cNvPr id="17" name="Group 16">
            <a:extLst>
              <a:ext uri="{FF2B5EF4-FFF2-40B4-BE49-F238E27FC236}">
                <a16:creationId xmlns:a16="http://schemas.microsoft.com/office/drawing/2014/main" id="{A279B8CB-D6C2-6946-432F-65023001EB38}"/>
              </a:ext>
            </a:extLst>
          </p:cNvPr>
          <p:cNvGrpSpPr/>
          <p:nvPr/>
        </p:nvGrpSpPr>
        <p:grpSpPr>
          <a:xfrm>
            <a:off x="11095285" y="14275224"/>
            <a:ext cx="22669507" cy="1118556"/>
            <a:chOff x="32613600" y="23300107"/>
            <a:chExt cx="11277600" cy="1077218"/>
          </a:xfrm>
        </p:grpSpPr>
        <p:sp>
          <p:nvSpPr>
            <p:cNvPr id="18" name="Text Box 18">
              <a:extLst>
                <a:ext uri="{FF2B5EF4-FFF2-40B4-BE49-F238E27FC236}">
                  <a16:creationId xmlns:a16="http://schemas.microsoft.com/office/drawing/2014/main" id="{73A7C2C3-685F-638D-D1D9-EF316E346A98}"/>
                </a:ext>
              </a:extLst>
            </p:cNvPr>
            <p:cNvSpPr txBox="1">
              <a:spLocks noChangeArrowheads="1"/>
            </p:cNvSpPr>
            <p:nvPr/>
          </p:nvSpPr>
          <p:spPr bwMode="auto">
            <a:xfrm>
              <a:off x="32689800" y="23452949"/>
              <a:ext cx="10820400" cy="919181"/>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RESULTS</a:t>
              </a:r>
            </a:p>
          </p:txBody>
        </p:sp>
        <p:sp>
          <p:nvSpPr>
            <p:cNvPr id="19" name="TextBox 18">
              <a:extLst>
                <a:ext uri="{FF2B5EF4-FFF2-40B4-BE49-F238E27FC236}">
                  <a16:creationId xmlns:a16="http://schemas.microsoft.com/office/drawing/2014/main" id="{F821281B-DFFC-09BC-991D-0E53EB1E9A68}"/>
                </a:ext>
              </a:extLst>
            </p:cNvPr>
            <p:cNvSpPr txBox="1"/>
            <p:nvPr/>
          </p:nvSpPr>
          <p:spPr>
            <a:xfrm>
              <a:off x="32613600" y="23300107"/>
              <a:ext cx="11277600" cy="1077218"/>
            </a:xfrm>
            <a:prstGeom prst="rect">
              <a:avLst/>
            </a:prstGeom>
            <a:noFill/>
          </p:spPr>
          <p:txBody>
            <a:bodyPr wrap="square" rtlCol="0">
              <a:spAutoFit/>
            </a:bodyPr>
            <a:lstStyle/>
            <a:p>
              <a:pPr marL="457200" indent="-457200" algn="l">
                <a:lnSpc>
                  <a:spcPct val="100000"/>
                </a:lnSpc>
                <a:spcBef>
                  <a:spcPts val="0"/>
                </a:spcBef>
                <a:buFont typeface="Arial" panose="020B0604020202020204" pitchFamily="34" charset="0"/>
                <a:buChar char="•"/>
              </a:pPr>
              <a:endParaRPr lang="en-US" sz="3200" b="0" dirty="0">
                <a:highlight>
                  <a:srgbClr val="F5CB2E"/>
                </a:highlight>
              </a:endParaRPr>
            </a:p>
            <a:p>
              <a:pPr marL="457200" indent="-457200" algn="l">
                <a:lnSpc>
                  <a:spcPct val="100000"/>
                </a:lnSpc>
                <a:spcBef>
                  <a:spcPts val="0"/>
                </a:spcBef>
                <a:buFont typeface="Arial" panose="020B0604020202020204" pitchFamily="34" charset="0"/>
                <a:buChar char="•"/>
              </a:pPr>
              <a:endParaRPr lang="en-US" sz="3200" b="0" dirty="0">
                <a:highlight>
                  <a:srgbClr val="F5CB2E"/>
                </a:highlight>
              </a:endParaRPr>
            </a:p>
          </p:txBody>
        </p:sp>
      </p:grpSp>
      <p:sp>
        <p:nvSpPr>
          <p:cNvPr id="27" name="Text Box 18">
            <a:extLst>
              <a:ext uri="{FF2B5EF4-FFF2-40B4-BE49-F238E27FC236}">
                <a16:creationId xmlns:a16="http://schemas.microsoft.com/office/drawing/2014/main" id="{6643A470-696F-5025-512E-0E9916ADD6E7}"/>
              </a:ext>
            </a:extLst>
          </p:cNvPr>
          <p:cNvSpPr txBox="1">
            <a:spLocks noChangeArrowheads="1"/>
          </p:cNvSpPr>
          <p:nvPr/>
        </p:nvSpPr>
        <p:spPr bwMode="auto">
          <a:xfrm>
            <a:off x="33223200" y="29489400"/>
            <a:ext cx="10668000" cy="954461"/>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REFERENCES &amp; MORE</a:t>
            </a:r>
          </a:p>
        </p:txBody>
      </p:sp>
      <p:pic>
        <p:nvPicPr>
          <p:cNvPr id="8" name="Picture 7">
            <a:extLst>
              <a:ext uri="{FF2B5EF4-FFF2-40B4-BE49-F238E27FC236}">
                <a16:creationId xmlns:a16="http://schemas.microsoft.com/office/drawing/2014/main" id="{DC5C632F-4220-7D94-EBBB-3F5609CEA632}"/>
              </a:ext>
            </a:extLst>
          </p:cNvPr>
          <p:cNvPicPr>
            <a:picLocks noChangeAspect="1"/>
          </p:cNvPicPr>
          <p:nvPr/>
        </p:nvPicPr>
        <p:blipFill>
          <a:blip r:embed="rId3"/>
          <a:stretch>
            <a:fillRect/>
          </a:stretch>
        </p:blipFill>
        <p:spPr>
          <a:xfrm>
            <a:off x="228600" y="275511"/>
            <a:ext cx="9040761" cy="3016210"/>
          </a:xfrm>
          <a:prstGeom prst="rect">
            <a:avLst/>
          </a:prstGeom>
        </p:spPr>
        <p:style>
          <a:lnRef idx="2">
            <a:schemeClr val="dk1"/>
          </a:lnRef>
          <a:fillRef idx="1">
            <a:schemeClr val="lt1"/>
          </a:fillRef>
          <a:effectRef idx="0">
            <a:schemeClr val="dk1"/>
          </a:effectRef>
          <a:fontRef idx="minor">
            <a:schemeClr val="dk1"/>
          </a:fontRef>
        </p:style>
      </p:pic>
      <p:sp>
        <p:nvSpPr>
          <p:cNvPr id="49" name="TextBox 48">
            <a:extLst>
              <a:ext uri="{FF2B5EF4-FFF2-40B4-BE49-F238E27FC236}">
                <a16:creationId xmlns:a16="http://schemas.microsoft.com/office/drawing/2014/main" id="{DD5055EC-E5F2-FFB9-A56D-AFF08F0E457D}"/>
              </a:ext>
            </a:extLst>
          </p:cNvPr>
          <p:cNvSpPr txBox="1"/>
          <p:nvPr/>
        </p:nvSpPr>
        <p:spPr>
          <a:xfrm>
            <a:off x="32915708" y="17282589"/>
            <a:ext cx="10783335" cy="8063746"/>
          </a:xfrm>
          <a:prstGeom prst="rect">
            <a:avLst/>
          </a:prstGeom>
          <a:noFill/>
        </p:spPr>
        <p:txBody>
          <a:bodyPr wrap="square" rtlCol="0">
            <a:spAutoFit/>
          </a:bodyPr>
          <a:lstStyle/>
          <a:p>
            <a:pPr marL="274320" lvl="0" indent="-274320" algn="just">
              <a:lnSpc>
                <a:spcPct val="100000"/>
              </a:lnSpc>
              <a:buFont typeface="Arial" panose="020B0604020202020204" pitchFamily="34" charset="0"/>
              <a:buChar char="•"/>
              <a:defRPr/>
            </a:pPr>
            <a:r>
              <a:rPr lang="en-US" sz="2800" dirty="0"/>
              <a:t>Successful Reproducibility</a:t>
            </a:r>
            <a:r>
              <a:rPr lang="en-US" sz="2800" b="0" dirty="0"/>
              <a:t>: The study successfully validated the IMM-TSF framework on the irregular EPA-Air dataset, confirming that multimodal integration of weather summaries generally enhances air quality forecasting accuracy.</a:t>
            </a:r>
          </a:p>
          <a:p>
            <a:pPr marL="274320" lvl="0" indent="-274320" algn="just">
              <a:lnSpc>
                <a:spcPct val="100000"/>
              </a:lnSpc>
              <a:buFont typeface="Arial" panose="020B0604020202020204" pitchFamily="34" charset="0"/>
              <a:buChar char="•"/>
              <a:defRPr/>
            </a:pPr>
            <a:r>
              <a:rPr lang="en-US" sz="2800" dirty="0"/>
              <a:t>Architecture-Dependent Gains</a:t>
            </a:r>
            <a:r>
              <a:rPr lang="en-US" sz="2800" b="0" dirty="0"/>
              <a:t>: We found that Non-patch models (e.g., </a:t>
            </a:r>
            <a:r>
              <a:rPr lang="en-US" sz="2800" b="0" dirty="0" err="1"/>
              <a:t>DLinear</a:t>
            </a:r>
            <a:r>
              <a:rPr lang="en-US" sz="2800" b="0" dirty="0"/>
              <a:t>, Informer) are significantly more "text-friendly," while Patch-based architectures often struggle to integrate asynchronous text, showing that one size does not fit all in multimodal fusion.</a:t>
            </a:r>
          </a:p>
          <a:p>
            <a:pPr marL="274320" lvl="0" indent="-274320" algn="just">
              <a:lnSpc>
                <a:spcPct val="100000"/>
              </a:lnSpc>
              <a:buFont typeface="Arial" panose="020B0604020202020204" pitchFamily="34" charset="0"/>
              <a:buChar char="•"/>
              <a:defRPr/>
            </a:pPr>
            <a:r>
              <a:rPr lang="en-US" sz="2800" dirty="0"/>
              <a:t>Criticality of Encoder Selection</a:t>
            </a:r>
            <a:r>
              <a:rPr lang="en-US" sz="2800" b="0" dirty="0"/>
              <a:t>: Contrary to the anchor paper's findings, our results prove that the choice between GPT-2 and BERT is crucial on sparse datasets; the right encoder choice flipped results for several models from "harmful" to "helpful.”</a:t>
            </a:r>
          </a:p>
          <a:p>
            <a:pPr marL="274320" lvl="0" indent="-274320" algn="just">
              <a:lnSpc>
                <a:spcPct val="100000"/>
              </a:lnSpc>
              <a:buFont typeface="Arial" panose="020B0604020202020204" pitchFamily="34" charset="0"/>
              <a:buChar char="•"/>
              <a:defRPr/>
            </a:pPr>
            <a:r>
              <a:rPr lang="en-US" sz="2800" dirty="0"/>
              <a:t>The Regularization Paradox</a:t>
            </a:r>
            <a:r>
              <a:rPr lang="en-US" sz="2800" b="0" dirty="0"/>
              <a:t>: The placebo test revealed that for nearly half the models, random noise matched or beat real text. This suggests that some reported performance gains may stem from structural regularization rather than true semantic understanding of the weather text.</a:t>
            </a:r>
            <a:endParaRPr kumimoji="0" lang="en-US" sz="28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59" name="TextBox 58">
            <a:extLst>
              <a:ext uri="{FF2B5EF4-FFF2-40B4-BE49-F238E27FC236}">
                <a16:creationId xmlns:a16="http://schemas.microsoft.com/office/drawing/2014/main" id="{A8BB2C98-C063-14F4-CD86-CA2FEF4184C3}"/>
              </a:ext>
            </a:extLst>
          </p:cNvPr>
          <p:cNvSpPr txBox="1"/>
          <p:nvPr/>
        </p:nvSpPr>
        <p:spPr>
          <a:xfrm>
            <a:off x="33618991" y="15825212"/>
            <a:ext cx="9671499" cy="386516"/>
          </a:xfrm>
          <a:prstGeom prst="rect">
            <a:avLst/>
          </a:prstGeom>
          <a:noFill/>
        </p:spPr>
        <p:txBody>
          <a:bodyPr wrap="square">
            <a:spAutoFit/>
          </a:bodyPr>
          <a:lstStyle/>
          <a:p>
            <a:pPr algn="l"/>
            <a:r>
              <a:rPr lang="en-US" sz="2800" i="1" dirty="0"/>
              <a:t>                                 Figure 4. Architecture diagram </a:t>
            </a:r>
          </a:p>
        </p:txBody>
      </p:sp>
      <p:sp>
        <p:nvSpPr>
          <p:cNvPr id="54" name="TextBox 53">
            <a:extLst>
              <a:ext uri="{FF2B5EF4-FFF2-40B4-BE49-F238E27FC236}">
                <a16:creationId xmlns:a16="http://schemas.microsoft.com/office/drawing/2014/main" id="{24C127DC-F5E1-0020-406F-D7CF499BD30D}"/>
              </a:ext>
            </a:extLst>
          </p:cNvPr>
          <p:cNvSpPr txBox="1"/>
          <p:nvPr/>
        </p:nvSpPr>
        <p:spPr>
          <a:xfrm>
            <a:off x="34896402" y="275511"/>
            <a:ext cx="8766198" cy="313932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00000"/>
              </a:lnSpc>
              <a:spcBef>
                <a:spcPts val="0"/>
              </a:spcBef>
            </a:pPr>
            <a:r>
              <a:rPr lang="en-US" sz="4000" dirty="0"/>
              <a:t>Contact Details:</a:t>
            </a:r>
          </a:p>
          <a:p>
            <a:pPr>
              <a:lnSpc>
                <a:spcPct val="100000"/>
              </a:lnSpc>
              <a:spcBef>
                <a:spcPts val="0"/>
              </a:spcBef>
            </a:pPr>
            <a:r>
              <a:rPr lang="en-US" sz="4000" dirty="0"/>
              <a:t>avallep1@students.kennesaw.edu</a:t>
            </a:r>
          </a:p>
          <a:p>
            <a:pPr>
              <a:lnSpc>
                <a:spcPct val="100000"/>
              </a:lnSpc>
              <a:spcBef>
                <a:spcPts val="0"/>
              </a:spcBef>
            </a:pPr>
            <a:r>
              <a:rPr lang="en-US" sz="4000" dirty="0"/>
              <a:t>pkesire2@students.kennesaw.edu</a:t>
            </a:r>
          </a:p>
          <a:p>
            <a:pPr>
              <a:lnSpc>
                <a:spcPct val="100000"/>
              </a:lnSpc>
              <a:spcBef>
                <a:spcPts val="0"/>
              </a:spcBef>
            </a:pPr>
            <a:r>
              <a:rPr lang="en-US" sz="4000" dirty="0"/>
              <a:t>vburugup@students.kennesaw.edu</a:t>
            </a:r>
          </a:p>
          <a:p>
            <a:pPr>
              <a:lnSpc>
                <a:spcPct val="100000"/>
              </a:lnSpc>
              <a:spcBef>
                <a:spcPts val="0"/>
              </a:spcBef>
            </a:pPr>
            <a:endParaRPr lang="en-US" sz="3800" dirty="0"/>
          </a:p>
        </p:txBody>
      </p:sp>
      <p:sp>
        <p:nvSpPr>
          <p:cNvPr id="1038" name="Text Box 12">
            <a:extLst>
              <a:ext uri="{FF2B5EF4-FFF2-40B4-BE49-F238E27FC236}">
                <a16:creationId xmlns:a16="http://schemas.microsoft.com/office/drawing/2014/main" id="{FD0614CD-7B2B-1CB2-D64F-71F1C21FA1F1}"/>
              </a:ext>
            </a:extLst>
          </p:cNvPr>
          <p:cNvSpPr txBox="1">
            <a:spLocks noChangeArrowheads="1"/>
          </p:cNvSpPr>
          <p:nvPr/>
        </p:nvSpPr>
        <p:spPr bwMode="auto">
          <a:xfrm>
            <a:off x="155158" y="13369766"/>
            <a:ext cx="11085572" cy="984726"/>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DATASETS USED</a:t>
            </a:r>
          </a:p>
        </p:txBody>
      </p:sp>
      <p:sp>
        <p:nvSpPr>
          <p:cNvPr id="1042" name="AutoShape 3">
            <a:extLst>
              <a:ext uri="{FF2B5EF4-FFF2-40B4-BE49-F238E27FC236}">
                <a16:creationId xmlns:a16="http://schemas.microsoft.com/office/drawing/2014/main" id="{8FCDC111-8E4F-F1B7-ACDA-C18A59529310}"/>
              </a:ext>
            </a:extLst>
          </p:cNvPr>
          <p:cNvSpPr>
            <a:spLocks noChangeAspect="1" noChangeArrowheads="1"/>
          </p:cNvSpPr>
          <p:nvPr/>
        </p:nvSpPr>
        <p:spPr bwMode="auto">
          <a:xfrm>
            <a:off x="217932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45" name="Text Box 12">
            <a:extLst>
              <a:ext uri="{FF2B5EF4-FFF2-40B4-BE49-F238E27FC236}">
                <a16:creationId xmlns:a16="http://schemas.microsoft.com/office/drawing/2014/main" id="{0D678BC7-B02C-9759-0946-09EBF403E00C}"/>
              </a:ext>
            </a:extLst>
          </p:cNvPr>
          <p:cNvSpPr txBox="1">
            <a:spLocks noChangeArrowheads="1"/>
          </p:cNvSpPr>
          <p:nvPr/>
        </p:nvSpPr>
        <p:spPr bwMode="auto">
          <a:xfrm>
            <a:off x="142030" y="23966334"/>
            <a:ext cx="10992392" cy="720551"/>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4000" dirty="0"/>
              <a:t>IMPACT &amp; COMPETITIVE ADVANTAGE  </a:t>
            </a:r>
          </a:p>
        </p:txBody>
      </p:sp>
      <p:sp>
        <p:nvSpPr>
          <p:cNvPr id="1075" name="Process 1074">
            <a:extLst>
              <a:ext uri="{FF2B5EF4-FFF2-40B4-BE49-F238E27FC236}">
                <a16:creationId xmlns:a16="http://schemas.microsoft.com/office/drawing/2014/main" id="{B9EB2539-5B71-7073-2224-46C0FCEE9637}"/>
              </a:ext>
            </a:extLst>
          </p:cNvPr>
          <p:cNvSpPr/>
          <p:nvPr/>
        </p:nvSpPr>
        <p:spPr bwMode="auto">
          <a:xfrm>
            <a:off x="11986436" y="27127200"/>
            <a:ext cx="19964811" cy="5029200"/>
          </a:xfrm>
          <a:prstGeom prst="flowChartProcess">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2259013" rtl="0" eaLnBrk="0" fontAlgn="base" latinLnBrk="0" hangingPunct="0">
              <a:lnSpc>
                <a:spcPct val="65000"/>
              </a:lnSpc>
              <a:spcBef>
                <a:spcPct val="50000"/>
              </a:spcBef>
              <a:spcAft>
                <a:spcPct val="0"/>
              </a:spcAft>
              <a:buClrTx/>
              <a:buSzTx/>
              <a:buFontTx/>
              <a:buNone/>
              <a:tabLst/>
            </a:pPr>
            <a:endParaRPr kumimoji="0" lang="en-US" sz="5400" b="1" i="0" u="none" strike="noStrike" cap="none" normalizeH="0" baseline="0">
              <a:ln>
                <a:noFill/>
              </a:ln>
              <a:solidFill>
                <a:schemeClr val="tx1"/>
              </a:solidFill>
              <a:effectLst/>
              <a:latin typeface="Times New Roman" pitchFamily="18" charset="0"/>
            </a:endParaRPr>
          </a:p>
        </p:txBody>
      </p:sp>
      <p:sp>
        <p:nvSpPr>
          <p:cNvPr id="3" name="TextBox 2">
            <a:extLst>
              <a:ext uri="{FF2B5EF4-FFF2-40B4-BE49-F238E27FC236}">
                <a16:creationId xmlns:a16="http://schemas.microsoft.com/office/drawing/2014/main" id="{2C0B8344-55BD-A391-510D-F607F24202F0}"/>
              </a:ext>
            </a:extLst>
          </p:cNvPr>
          <p:cNvSpPr txBox="1"/>
          <p:nvPr/>
        </p:nvSpPr>
        <p:spPr>
          <a:xfrm>
            <a:off x="164089" y="4605588"/>
            <a:ext cx="10970333" cy="8710077"/>
          </a:xfrm>
          <a:prstGeom prst="rect">
            <a:avLst/>
          </a:prstGeom>
          <a:noFill/>
        </p:spPr>
        <p:txBody>
          <a:bodyPr wrap="square" rtlCol="0">
            <a:spAutoFit/>
          </a:bodyPr>
          <a:lstStyle/>
          <a:p>
            <a:pPr lvl="0" algn="just">
              <a:lnSpc>
                <a:spcPct val="100000"/>
              </a:lnSpc>
              <a:defRPr/>
            </a:pPr>
            <a:r>
              <a:rPr lang="en-US" sz="3200" b="0" dirty="0"/>
              <a:t>This project investigates the challenges of forecasting using "messy" real-world data that includes both numerical sensors and unstructured text. Using the IMM-TSF (Irregular Multimodal Multivariate Time-Series Forecasting) framework, we focus on the EPA-Air dataset. In Track A, we successfully replicated the baseline performance metrics from the original research, confirming that integrating textual data reduces prediction error. In Track C, we propose an architectural extension to the modality fusion module to further enhance the model's ability to handle asynchronous data streams.</a:t>
            </a:r>
          </a:p>
          <a:p>
            <a:pPr lvl="0" algn="just">
              <a:lnSpc>
                <a:spcPct val="100000"/>
              </a:lnSpc>
              <a:defRPr/>
            </a:pPr>
            <a:r>
              <a:rPr kumimoji="0" lang="en-US" sz="3200" b="0" i="0" u="none" strike="noStrike" kern="1200" cap="none" spc="0" normalizeH="0" baseline="0" noProof="0" dirty="0">
                <a:ln>
                  <a:noFill/>
                </a:ln>
                <a:solidFill>
                  <a:srgbClr val="000000"/>
                </a:solidFill>
                <a:effectLst/>
                <a:uLnTx/>
                <a:uFillTx/>
                <a:latin typeface="Times New Roman" pitchFamily="18" charset="0"/>
                <a:ea typeface="+mn-ea"/>
                <a:cs typeface="+mn-cs"/>
              </a:rPr>
              <a:t>Traditional time-series models often assume that data is collected at regular intervals and consists only of numbers. However, real-world environmental data (like air quality) is often irregular and multimodal containing sensor readings alongside text-based reports or location metadata. This project utilizes the TIME-IMM benchmark to bridge the gap between clean laboratory datasets and complex, real-world deployment scenarios.</a:t>
            </a:r>
          </a:p>
        </p:txBody>
      </p:sp>
      <p:sp>
        <p:nvSpPr>
          <p:cNvPr id="5" name="AutoShape 8" descr="2 Eyes Clipart Images | Free Download | PNG Transparent Background - Pngtree">
            <a:extLst>
              <a:ext uri="{FF2B5EF4-FFF2-40B4-BE49-F238E27FC236}">
                <a16:creationId xmlns:a16="http://schemas.microsoft.com/office/drawing/2014/main" id="{D3777913-CC55-26C9-4ADB-08C2B740D467}"/>
              </a:ext>
            </a:extLst>
          </p:cNvPr>
          <p:cNvSpPr>
            <a:spLocks noChangeAspect="1" noChangeArrowheads="1"/>
          </p:cNvSpPr>
          <p:nvPr/>
        </p:nvSpPr>
        <p:spPr bwMode="auto">
          <a:xfrm>
            <a:off x="21945600" y="16459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D1B493C4-4BEC-C206-6373-A50600C5D46C}"/>
              </a:ext>
            </a:extLst>
          </p:cNvPr>
          <p:cNvSpPr txBox="1"/>
          <p:nvPr/>
        </p:nvSpPr>
        <p:spPr>
          <a:xfrm>
            <a:off x="274066" y="14541515"/>
            <a:ext cx="10970333" cy="5755422"/>
          </a:xfrm>
          <a:prstGeom prst="rect">
            <a:avLst/>
          </a:prstGeom>
          <a:noFill/>
        </p:spPr>
        <p:txBody>
          <a:bodyPr wrap="square" rtlCol="0">
            <a:spAutoFit/>
          </a:bodyPr>
          <a:lstStyle/>
          <a:p>
            <a:pPr marL="514350" indent="-514350" algn="just">
              <a:lnSpc>
                <a:spcPct val="100000"/>
              </a:lnSpc>
              <a:buFontTx/>
              <a:buAutoNum type="alphaUcParenR"/>
              <a:defRPr/>
            </a:pPr>
            <a:r>
              <a:rPr lang="en-US" sz="3200" dirty="0"/>
              <a:t>Dataset Name: </a:t>
            </a:r>
            <a:r>
              <a:rPr lang="en-US" sz="3200" b="0" dirty="0"/>
              <a:t>EPA-Air (Artifact-Based Irregularities)</a:t>
            </a:r>
          </a:p>
          <a:p>
            <a:pPr marL="514350" indent="-514350" algn="just">
              <a:lnSpc>
                <a:spcPct val="100000"/>
              </a:lnSpc>
              <a:buFontTx/>
              <a:buAutoNum type="alphaUcParenR"/>
              <a:defRPr/>
            </a:pPr>
            <a:r>
              <a:rPr lang="en-US" sz="3200" b="0" dirty="0"/>
              <a:t> </a:t>
            </a:r>
            <a:r>
              <a:rPr lang="en-US" sz="3200" dirty="0"/>
              <a:t>Geographical Scope</a:t>
            </a:r>
            <a:r>
              <a:rPr lang="en-US" sz="3200" b="0" dirty="0"/>
              <a:t>: The dataset encompasses air quality monitoring across eight major U.S. cities each treated as an individual entity: Los-Angeles, Maricopa (Phoenix), Philadelphia, Bexar (San Antonio), Dallas, Richmond, Hillsborough and Denver</a:t>
            </a:r>
          </a:p>
          <a:p>
            <a:pPr marL="514350" indent="-514350" algn="just">
              <a:lnSpc>
                <a:spcPct val="100000"/>
              </a:lnSpc>
              <a:buFontTx/>
              <a:buAutoNum type="alphaUcParenR"/>
              <a:defRPr/>
            </a:pPr>
            <a:r>
              <a:rPr lang="en-US" sz="3200" dirty="0"/>
              <a:t>Numerical Modality</a:t>
            </a:r>
            <a:r>
              <a:rPr lang="en-US" sz="3200" b="0" dirty="0"/>
              <a:t>: Air Quality Index (AQI), Ozone, PM_2.5, and Temperature.</a:t>
            </a:r>
          </a:p>
          <a:p>
            <a:pPr marL="514350" indent="-514350" algn="just">
              <a:lnSpc>
                <a:spcPct val="100000"/>
              </a:lnSpc>
              <a:buFontTx/>
              <a:buAutoNum type="alphaUcParenR"/>
              <a:defRPr/>
            </a:pPr>
            <a:r>
              <a:rPr lang="en-US" sz="3200" dirty="0"/>
              <a:t>Textual Modality</a:t>
            </a:r>
            <a:r>
              <a:rPr lang="en-US" sz="3200" b="0" dirty="0"/>
              <a:t>: Unstructured news articles about Air quality.</a:t>
            </a:r>
          </a:p>
        </p:txBody>
      </p:sp>
      <p:sp>
        <p:nvSpPr>
          <p:cNvPr id="44" name="TextBox 43">
            <a:extLst>
              <a:ext uri="{FF2B5EF4-FFF2-40B4-BE49-F238E27FC236}">
                <a16:creationId xmlns:a16="http://schemas.microsoft.com/office/drawing/2014/main" id="{0EC18E5F-1830-C84F-6901-7CE314C99160}"/>
              </a:ext>
            </a:extLst>
          </p:cNvPr>
          <p:cNvSpPr txBox="1"/>
          <p:nvPr/>
        </p:nvSpPr>
        <p:spPr>
          <a:xfrm>
            <a:off x="19499213" y="13862129"/>
            <a:ext cx="4892773" cy="428579"/>
          </a:xfrm>
          <a:prstGeom prst="rect">
            <a:avLst/>
          </a:prstGeom>
          <a:noFill/>
        </p:spPr>
        <p:txBody>
          <a:bodyPr wrap="square">
            <a:spAutoFit/>
          </a:bodyPr>
          <a:lstStyle/>
          <a:p>
            <a:pPr algn="just"/>
            <a:r>
              <a:rPr lang="en-US" sz="3200" i="1" dirty="0"/>
              <a:t>Figure 1 :  Methodology</a:t>
            </a:r>
          </a:p>
        </p:txBody>
      </p:sp>
      <p:sp>
        <p:nvSpPr>
          <p:cNvPr id="4" name="Text Box 18">
            <a:extLst>
              <a:ext uri="{FF2B5EF4-FFF2-40B4-BE49-F238E27FC236}">
                <a16:creationId xmlns:a16="http://schemas.microsoft.com/office/drawing/2014/main" id="{A4A3CE97-5F6B-946F-50E4-4438272F7AC0}"/>
              </a:ext>
            </a:extLst>
          </p:cNvPr>
          <p:cNvSpPr txBox="1">
            <a:spLocks noChangeArrowheads="1"/>
          </p:cNvSpPr>
          <p:nvPr/>
        </p:nvSpPr>
        <p:spPr bwMode="auto">
          <a:xfrm>
            <a:off x="33123346" y="25346335"/>
            <a:ext cx="10668000" cy="819039"/>
          </a:xfrm>
          <a:prstGeom prst="rect">
            <a:avLst/>
          </a:prstGeom>
          <a:solidFill>
            <a:srgbClr val="F5CB2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4800" dirty="0"/>
              <a:t>FUTURE SCOPE</a:t>
            </a:r>
          </a:p>
        </p:txBody>
      </p:sp>
      <p:pic>
        <p:nvPicPr>
          <p:cNvPr id="1026" name="Picture 2">
            <a:extLst>
              <a:ext uri="{FF2B5EF4-FFF2-40B4-BE49-F238E27FC236}">
                <a16:creationId xmlns:a16="http://schemas.microsoft.com/office/drawing/2014/main" id="{0191FF9A-0948-D80D-9BB7-B1A5F64320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94467" y="30508400"/>
            <a:ext cx="2113374" cy="21133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CB1B286-9A69-8D82-B0D0-79BBC36914F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036463" y="30508400"/>
            <a:ext cx="1958679" cy="1958679"/>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065615A3-B093-EE71-0F10-2ED5FA8D84DC}"/>
              </a:ext>
            </a:extLst>
          </p:cNvPr>
          <p:cNvSpPr txBox="1"/>
          <p:nvPr/>
        </p:nvSpPr>
        <p:spPr>
          <a:xfrm flipH="1">
            <a:off x="39188607" y="32467079"/>
            <a:ext cx="1654389" cy="428579"/>
          </a:xfrm>
          <a:prstGeom prst="rect">
            <a:avLst/>
          </a:prstGeom>
          <a:noFill/>
        </p:spPr>
        <p:txBody>
          <a:bodyPr wrap="square" rtlCol="0">
            <a:spAutoFit/>
          </a:bodyPr>
          <a:lstStyle/>
          <a:p>
            <a:r>
              <a:rPr lang="en-US" sz="3200" dirty="0"/>
              <a:t>Param</a:t>
            </a:r>
          </a:p>
        </p:txBody>
      </p:sp>
      <p:sp>
        <p:nvSpPr>
          <p:cNvPr id="40" name="TextBox 39">
            <a:extLst>
              <a:ext uri="{FF2B5EF4-FFF2-40B4-BE49-F238E27FC236}">
                <a16:creationId xmlns:a16="http://schemas.microsoft.com/office/drawing/2014/main" id="{258E8DA4-0E04-1A3F-9154-3F24EE8D633F}"/>
              </a:ext>
            </a:extLst>
          </p:cNvPr>
          <p:cNvSpPr txBox="1"/>
          <p:nvPr/>
        </p:nvSpPr>
        <p:spPr>
          <a:xfrm flipH="1">
            <a:off x="36464471" y="32512769"/>
            <a:ext cx="1654389" cy="428579"/>
          </a:xfrm>
          <a:prstGeom prst="rect">
            <a:avLst/>
          </a:prstGeom>
          <a:noFill/>
        </p:spPr>
        <p:txBody>
          <a:bodyPr wrap="square" rtlCol="0">
            <a:spAutoFit/>
          </a:bodyPr>
          <a:lstStyle/>
          <a:p>
            <a:r>
              <a:rPr lang="en-US" sz="3200" dirty="0"/>
              <a:t>Anil </a:t>
            </a:r>
          </a:p>
        </p:txBody>
      </p:sp>
      <p:sp>
        <p:nvSpPr>
          <p:cNvPr id="41" name="TextBox 40">
            <a:extLst>
              <a:ext uri="{FF2B5EF4-FFF2-40B4-BE49-F238E27FC236}">
                <a16:creationId xmlns:a16="http://schemas.microsoft.com/office/drawing/2014/main" id="{9577F316-FF22-D07B-3281-635AF1896C35}"/>
              </a:ext>
            </a:extLst>
          </p:cNvPr>
          <p:cNvSpPr txBox="1"/>
          <p:nvPr/>
        </p:nvSpPr>
        <p:spPr>
          <a:xfrm flipH="1">
            <a:off x="41686891" y="32492372"/>
            <a:ext cx="1982636" cy="428579"/>
          </a:xfrm>
          <a:prstGeom prst="rect">
            <a:avLst/>
          </a:prstGeom>
          <a:noFill/>
        </p:spPr>
        <p:txBody>
          <a:bodyPr wrap="square" rtlCol="0">
            <a:spAutoFit/>
          </a:bodyPr>
          <a:lstStyle/>
          <a:p>
            <a:r>
              <a:rPr lang="en-US" sz="3200" dirty="0"/>
              <a:t>Vineetha</a:t>
            </a:r>
          </a:p>
        </p:txBody>
      </p:sp>
      <p:pic>
        <p:nvPicPr>
          <p:cNvPr id="42" name="Picture 6">
            <a:extLst>
              <a:ext uri="{FF2B5EF4-FFF2-40B4-BE49-F238E27FC236}">
                <a16:creationId xmlns:a16="http://schemas.microsoft.com/office/drawing/2014/main" id="{45C43D61-20F6-3A38-B4DF-2711459A6C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46529" y="30508400"/>
            <a:ext cx="1958679" cy="195867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C2230DDC-E966-15C6-AEFB-6BADEAB44D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601038" y="30508400"/>
            <a:ext cx="1958679" cy="195867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721DC6EA-E50D-9A50-9990-FEF652CA8007}"/>
              </a:ext>
            </a:extLst>
          </p:cNvPr>
          <p:cNvSpPr txBox="1"/>
          <p:nvPr/>
        </p:nvSpPr>
        <p:spPr>
          <a:xfrm flipH="1">
            <a:off x="33443999" y="32489821"/>
            <a:ext cx="2232942" cy="386516"/>
          </a:xfrm>
          <a:prstGeom prst="rect">
            <a:avLst/>
          </a:prstGeom>
          <a:noFill/>
        </p:spPr>
        <p:txBody>
          <a:bodyPr wrap="square" rtlCol="0">
            <a:spAutoFit/>
          </a:bodyPr>
          <a:lstStyle/>
          <a:p>
            <a:r>
              <a:rPr lang="en-US" sz="2800" dirty="0"/>
              <a:t>References</a:t>
            </a:r>
          </a:p>
        </p:txBody>
      </p:sp>
      <p:sp>
        <p:nvSpPr>
          <p:cNvPr id="36" name="TextBox 35">
            <a:extLst>
              <a:ext uri="{FF2B5EF4-FFF2-40B4-BE49-F238E27FC236}">
                <a16:creationId xmlns:a16="http://schemas.microsoft.com/office/drawing/2014/main" id="{AB094949-89AC-4CB9-9A4B-4631D425A7DA}"/>
              </a:ext>
            </a:extLst>
          </p:cNvPr>
          <p:cNvSpPr txBox="1"/>
          <p:nvPr/>
        </p:nvSpPr>
        <p:spPr>
          <a:xfrm>
            <a:off x="317417" y="24794587"/>
            <a:ext cx="10817005" cy="8217634"/>
          </a:xfrm>
          <a:prstGeom prst="rect">
            <a:avLst/>
          </a:prstGeom>
          <a:noFill/>
        </p:spPr>
        <p:txBody>
          <a:bodyPr wrap="square" rtlCol="0">
            <a:spAutoFit/>
          </a:bodyPr>
          <a:lstStyle/>
          <a:p>
            <a:pPr algn="just">
              <a:lnSpc>
                <a:spcPct val="100000"/>
              </a:lnSpc>
            </a:pPr>
            <a:r>
              <a:rPr lang="en-US" sz="3200" dirty="0"/>
              <a:t>Impact</a:t>
            </a:r>
            <a:r>
              <a:rPr lang="en-US" sz="3200" b="0" dirty="0"/>
              <a:t>: The IMM-TSF framework transitions time-series research from "clean" laboratory environments to "messy" real-world applications. By successfully integrating asynchronous textual context with irregular sensor data, the model achieves up to a 38% reduction in forecasting error (MSE), demonstrating that multimodal data is critical for accurate predictions in complex domains like public health and environmental monitoring.</a:t>
            </a:r>
          </a:p>
          <a:p>
            <a:pPr algn="just">
              <a:lnSpc>
                <a:spcPct val="100000"/>
              </a:lnSpc>
            </a:pPr>
            <a:r>
              <a:rPr lang="en-US" sz="3200" dirty="0"/>
              <a:t>Competitive Advantage: </a:t>
            </a:r>
            <a:r>
              <a:rPr lang="en-US" sz="3200" b="0" dirty="0"/>
              <a:t>Unlike standard forecasting models that assume regular data intervals, this approach features a unique Timestamp-to-Text Fusion (TTF) module. This allows for the "plug-and-play" integration of various Large Language Models (LLMs) to process text without forcing artificial alignment, enabling the model to outperform traditional unimodal benchmarks even when data is missing or sampled inconsistently.</a:t>
            </a:r>
          </a:p>
        </p:txBody>
      </p:sp>
      <p:pic>
        <p:nvPicPr>
          <p:cNvPr id="6" name="Picture 5">
            <a:extLst>
              <a:ext uri="{FF2B5EF4-FFF2-40B4-BE49-F238E27FC236}">
                <a16:creationId xmlns:a16="http://schemas.microsoft.com/office/drawing/2014/main" id="{166A95A6-1061-C047-0118-FAC1712B1B0B}"/>
              </a:ext>
            </a:extLst>
          </p:cNvPr>
          <p:cNvPicPr>
            <a:picLocks noChangeAspect="1"/>
          </p:cNvPicPr>
          <p:nvPr/>
        </p:nvPicPr>
        <p:blipFill>
          <a:blip r:embed="rId8"/>
          <a:stretch>
            <a:fillRect/>
          </a:stretch>
        </p:blipFill>
        <p:spPr>
          <a:xfrm>
            <a:off x="33048896" y="4683278"/>
            <a:ext cx="10510821" cy="11166148"/>
          </a:xfrm>
          <a:prstGeom prst="rect">
            <a:avLst/>
          </a:prstGeom>
        </p:spPr>
      </p:pic>
      <p:pic>
        <p:nvPicPr>
          <p:cNvPr id="11" name="Picture 10">
            <a:extLst>
              <a:ext uri="{FF2B5EF4-FFF2-40B4-BE49-F238E27FC236}">
                <a16:creationId xmlns:a16="http://schemas.microsoft.com/office/drawing/2014/main" id="{776FC213-09E7-FE4D-3434-72B7687F19EF}"/>
              </a:ext>
            </a:extLst>
          </p:cNvPr>
          <p:cNvPicPr>
            <a:picLocks noChangeAspect="1"/>
          </p:cNvPicPr>
          <p:nvPr/>
        </p:nvPicPr>
        <p:blipFill>
          <a:blip r:embed="rId9"/>
          <a:stretch>
            <a:fillRect/>
          </a:stretch>
        </p:blipFill>
        <p:spPr>
          <a:xfrm>
            <a:off x="11271837" y="3451051"/>
            <a:ext cx="21722763" cy="10229850"/>
          </a:xfrm>
          <a:prstGeom prst="rect">
            <a:avLst/>
          </a:prstGeom>
        </p:spPr>
      </p:pic>
      <p:pic>
        <p:nvPicPr>
          <p:cNvPr id="20" name="Image 0" descr="/home/claude/deck/figures/fig01_asynchrony.png">
            <a:extLst>
              <a:ext uri="{FF2B5EF4-FFF2-40B4-BE49-F238E27FC236}">
                <a16:creationId xmlns:a16="http://schemas.microsoft.com/office/drawing/2014/main" id="{B0A16A48-3F26-D6FC-DDD6-A89A79939FE5}"/>
              </a:ext>
            </a:extLst>
          </p:cNvPr>
          <p:cNvPicPr>
            <a:picLocks noChangeAspect="1"/>
          </p:cNvPicPr>
          <p:nvPr/>
        </p:nvPicPr>
        <p:blipFill>
          <a:blip r:embed="rId10"/>
          <a:stretch>
            <a:fillRect/>
          </a:stretch>
        </p:blipFill>
        <p:spPr>
          <a:xfrm>
            <a:off x="351086" y="20296937"/>
            <a:ext cx="10783335" cy="3561695"/>
          </a:xfrm>
          <a:prstGeom prst="rect">
            <a:avLst/>
          </a:prstGeom>
        </p:spPr>
      </p:pic>
      <p:pic>
        <p:nvPicPr>
          <p:cNvPr id="22" name="Image 0" descr="/home/claude/deck/figures/fig02_uni_vs_multi.png">
            <a:extLst>
              <a:ext uri="{FF2B5EF4-FFF2-40B4-BE49-F238E27FC236}">
                <a16:creationId xmlns:a16="http://schemas.microsoft.com/office/drawing/2014/main" id="{19CD7033-B6BD-AC3E-9BC8-DDFD59529B9F}"/>
              </a:ext>
            </a:extLst>
          </p:cNvPr>
          <p:cNvPicPr>
            <a:picLocks noChangeAspect="1"/>
          </p:cNvPicPr>
          <p:nvPr/>
        </p:nvPicPr>
        <p:blipFill>
          <a:blip r:embed="rId11"/>
          <a:stretch>
            <a:fillRect/>
          </a:stretch>
        </p:blipFill>
        <p:spPr>
          <a:xfrm>
            <a:off x="11434778" y="15446963"/>
            <a:ext cx="21559822" cy="7433984"/>
          </a:xfrm>
          <a:prstGeom prst="rect">
            <a:avLst/>
          </a:prstGeom>
        </p:spPr>
      </p:pic>
      <p:sp>
        <p:nvSpPr>
          <p:cNvPr id="25" name="TextBox 24">
            <a:extLst>
              <a:ext uri="{FF2B5EF4-FFF2-40B4-BE49-F238E27FC236}">
                <a16:creationId xmlns:a16="http://schemas.microsoft.com/office/drawing/2014/main" id="{C2015603-213E-093A-F842-6A738FA985AD}"/>
              </a:ext>
            </a:extLst>
          </p:cNvPr>
          <p:cNvSpPr txBox="1"/>
          <p:nvPr/>
        </p:nvSpPr>
        <p:spPr>
          <a:xfrm>
            <a:off x="15396620" y="22934130"/>
            <a:ext cx="13144442" cy="428579"/>
          </a:xfrm>
          <a:prstGeom prst="rect">
            <a:avLst/>
          </a:prstGeom>
          <a:noFill/>
        </p:spPr>
        <p:txBody>
          <a:bodyPr wrap="square" rtlCol="0">
            <a:spAutoFit/>
          </a:bodyPr>
          <a:lstStyle/>
          <a:p>
            <a:r>
              <a:rPr lang="en-US" sz="3200" i="1" dirty="0"/>
              <a:t>Figure 2: Track-A Results Replication</a:t>
            </a:r>
          </a:p>
        </p:txBody>
      </p:sp>
      <p:pic>
        <p:nvPicPr>
          <p:cNvPr id="30" name="Image 0" descr="/home/claude/deck/figures/fig09_placebo.png">
            <a:extLst>
              <a:ext uri="{FF2B5EF4-FFF2-40B4-BE49-F238E27FC236}">
                <a16:creationId xmlns:a16="http://schemas.microsoft.com/office/drawing/2014/main" id="{E8881E35-FE27-1640-8586-ABD295C82E73}"/>
              </a:ext>
            </a:extLst>
          </p:cNvPr>
          <p:cNvPicPr>
            <a:picLocks noChangeAspect="1"/>
          </p:cNvPicPr>
          <p:nvPr/>
        </p:nvPicPr>
        <p:blipFill>
          <a:blip r:embed="rId12"/>
          <a:stretch>
            <a:fillRect/>
          </a:stretch>
        </p:blipFill>
        <p:spPr>
          <a:xfrm>
            <a:off x="11434778" y="23740784"/>
            <a:ext cx="21322002" cy="8034616"/>
          </a:xfrm>
          <a:prstGeom prst="rect">
            <a:avLst/>
          </a:prstGeom>
        </p:spPr>
      </p:pic>
      <p:sp>
        <p:nvSpPr>
          <p:cNvPr id="33" name="TextBox 32">
            <a:extLst>
              <a:ext uri="{FF2B5EF4-FFF2-40B4-BE49-F238E27FC236}">
                <a16:creationId xmlns:a16="http://schemas.microsoft.com/office/drawing/2014/main" id="{A3E1CA4C-0411-D018-76D6-A24B05BE28E3}"/>
              </a:ext>
            </a:extLst>
          </p:cNvPr>
          <p:cNvSpPr txBox="1"/>
          <p:nvPr/>
        </p:nvSpPr>
        <p:spPr>
          <a:xfrm flipH="1">
            <a:off x="18186802" y="31986199"/>
            <a:ext cx="8900002" cy="470578"/>
          </a:xfrm>
          <a:prstGeom prst="rect">
            <a:avLst/>
          </a:prstGeom>
          <a:noFill/>
        </p:spPr>
        <p:txBody>
          <a:bodyPr wrap="square" rtlCol="0">
            <a:spAutoFit/>
          </a:bodyPr>
          <a:lstStyle/>
          <a:p>
            <a:r>
              <a:rPr lang="en-US" sz="3600" i="1" dirty="0"/>
              <a:t>Figure 3: Track-C Results</a:t>
            </a:r>
          </a:p>
        </p:txBody>
      </p:sp>
      <p:sp>
        <p:nvSpPr>
          <p:cNvPr id="37" name="TextBox 36">
            <a:extLst>
              <a:ext uri="{FF2B5EF4-FFF2-40B4-BE49-F238E27FC236}">
                <a16:creationId xmlns:a16="http://schemas.microsoft.com/office/drawing/2014/main" id="{66D3F0A7-2DDE-C5E3-4519-6EEBEF6EB3AF}"/>
              </a:ext>
            </a:extLst>
          </p:cNvPr>
          <p:cNvSpPr txBox="1"/>
          <p:nvPr/>
        </p:nvSpPr>
        <p:spPr>
          <a:xfrm>
            <a:off x="33120739" y="26422045"/>
            <a:ext cx="10548787" cy="2554545"/>
          </a:xfrm>
          <a:prstGeom prst="rect">
            <a:avLst/>
          </a:prstGeom>
          <a:noFill/>
        </p:spPr>
        <p:txBody>
          <a:bodyPr wrap="square" rtlCol="0">
            <a:spAutoFit/>
          </a:bodyPr>
          <a:lstStyle/>
          <a:p>
            <a:pPr algn="just">
              <a:lnSpc>
                <a:spcPct val="100000"/>
              </a:lnSpc>
            </a:pPr>
            <a:r>
              <a:rPr lang="en-US" sz="3200" b="0" dirty="0"/>
              <a:t>Future Direction: To truly bridge the "say vs. do" gap in environmental forecasting, future architectures must move beyond simple additive fusion and toward cross-modal attention strategies that account for the extreme sparsity found in real-world sensor data.</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23949</TotalTime>
  <Words>674</Words>
  <Application>Microsoft Macintosh PowerPoint</Application>
  <PresentationFormat>Custom</PresentationFormat>
  <Paragraphs>38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Stephen J. Kinzey, Ph.D.</dc:creator>
  <cp:lastModifiedBy>Anil Vallepu</cp:lastModifiedBy>
  <cp:revision>350</cp:revision>
  <dcterms:created xsi:type="dcterms:W3CDTF">1999-06-15T14:29:13Z</dcterms:created>
  <dcterms:modified xsi:type="dcterms:W3CDTF">2026-04-17T02:24:57Z</dcterms:modified>
</cp:coreProperties>
</file>