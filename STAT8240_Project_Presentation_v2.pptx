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8" r:id="rId4"/>
    <p:sldId id="259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0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16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8020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60382-20F8-10A8-80B2-7E5CFAE74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E44B28-DA9D-E2AD-EAE4-0863BB9787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C987F9-4E97-C40F-4D66-AC4B852C12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730E9D-D981-48A9-8650-0680392A4B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4034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8240 — DATA MINING II · CLASS PROJECT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Replicating and Extending IMM-TSF: A Bench Marking Study on Irregular Multimodal EPA-Air Quality Dataset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14400" y="4754880"/>
            <a:ext cx="54864" cy="118872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" y="47548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EPA-Air (Multi-Source Asynchrony)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paper: 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 et al., NeurIPS 2025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16, 2026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EB955A-18D5-22C7-F678-413400CFD864}"/>
              </a:ext>
            </a:extLst>
          </p:cNvPr>
          <p:cNvSpPr txBox="1"/>
          <p:nvPr/>
        </p:nvSpPr>
        <p:spPr>
          <a:xfrm>
            <a:off x="6983984" y="4785360"/>
            <a:ext cx="3744976" cy="1351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</a:rPr>
              <a:t>Team Members :  Anil Vallepu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</a:rPr>
              <a:t>                                Param </a:t>
            </a:r>
            <a:r>
              <a:rPr lang="en-US" sz="1400" dirty="0" err="1">
                <a:solidFill>
                  <a:schemeClr val="bg1"/>
                </a:solidFill>
              </a:rPr>
              <a:t>Kesireddy</a:t>
            </a:r>
            <a:endParaRPr lang="en-US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</a:rPr>
              <a:t>                                Vineetha </a:t>
            </a:r>
            <a:r>
              <a:rPr lang="en-US" sz="1400" dirty="0" err="1">
                <a:solidFill>
                  <a:schemeClr val="bg1"/>
                </a:solidFill>
              </a:rPr>
              <a:t>Burugupalli</a:t>
            </a:r>
            <a:endParaRPr lang="en-US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</a:rPr>
              <a:t> Project Advisor :  Dr. Bin Luo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ABSTARCT 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77952" y="2311400"/>
            <a:ext cx="73152" cy="146304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2" name="Text 20"/>
          <p:cNvSpPr/>
          <p:nvPr/>
        </p:nvSpPr>
        <p:spPr>
          <a:xfrm>
            <a:off x="713232" y="883920"/>
            <a:ext cx="1106424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spcAft>
                <a:spcPts val="600"/>
              </a:spcAft>
            </a:pPr>
            <a:r>
              <a:rPr lang="en-US" sz="2000" dirty="0"/>
              <a:t>This project investigates the challenges of forecasting using "messy" real-world data that includes both numerical sensors data and unstructured textual data. Using the </a:t>
            </a:r>
            <a:r>
              <a:rPr lang="en-US" sz="2000" b="1" dirty="0"/>
              <a:t>IMM-TSF</a:t>
            </a:r>
            <a:r>
              <a:rPr lang="en-US" sz="2000" dirty="0"/>
              <a:t> (Irregular Multimodal Multivariate Time-Series Forecasting) framework.</a:t>
            </a:r>
          </a:p>
          <a:p>
            <a:pPr algn="just">
              <a:spcAft>
                <a:spcPts val="600"/>
              </a:spcAft>
            </a:pPr>
            <a:endParaRPr lang="en-US" sz="2000" dirty="0"/>
          </a:p>
          <a:p>
            <a:pPr algn="just">
              <a:spcAft>
                <a:spcPts val="600"/>
              </a:spcAft>
            </a:pPr>
            <a:r>
              <a:rPr lang="en-US" sz="2000" dirty="0"/>
              <a:t>We focus on the </a:t>
            </a:r>
            <a:r>
              <a:rPr lang="en-US" sz="2000" b="1" dirty="0"/>
              <a:t>EPA-Air dataset</a:t>
            </a:r>
            <a:r>
              <a:rPr lang="en-US" sz="2000" dirty="0"/>
              <a:t>. In </a:t>
            </a:r>
            <a:r>
              <a:rPr lang="en-US" sz="2000" b="1" dirty="0"/>
              <a:t>Track A</a:t>
            </a:r>
            <a:r>
              <a:rPr lang="en-US" sz="2000" dirty="0"/>
              <a:t>, we successfully replicated the baseline performance metrics from the original research, confirming that integrating textual data reduces prediction error. In </a:t>
            </a:r>
            <a:r>
              <a:rPr lang="en-US" sz="2000" b="1" dirty="0"/>
              <a:t>Track C</a:t>
            </a:r>
            <a:r>
              <a:rPr lang="en-US" sz="2000" dirty="0"/>
              <a:t>, we propose an architectural extension to the modality fusion module to further enhance the model's ability to handle asynchronous data streams.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932070-C4D3-B513-00B7-BA5696ECA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135F2BE-B7F8-933F-B09B-D0388BC107D4}"/>
              </a:ext>
            </a:extLst>
          </p:cNvPr>
          <p:cNvSpPr/>
          <p:nvPr/>
        </p:nvSpPr>
        <p:spPr>
          <a:xfrm>
            <a:off x="457200" y="457200"/>
            <a:ext cx="109728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09B00F5-8E85-3E3F-523A-2C02AEF7F9CA}"/>
              </a:ext>
            </a:extLst>
          </p:cNvPr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 </a:t>
            </a:r>
            <a:endParaRPr lang="en-US" sz="20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32AB9D2-7BD8-CCB9-F692-6C9A7FFD1B63}"/>
              </a:ext>
            </a:extLst>
          </p:cNvPr>
          <p:cNvSpPr/>
          <p:nvPr/>
        </p:nvSpPr>
        <p:spPr>
          <a:xfrm>
            <a:off x="377952" y="2311400"/>
            <a:ext cx="73152" cy="146304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08CEF4D-C1ED-52A8-24F9-E6B6793A9711}"/>
              </a:ext>
            </a:extLst>
          </p:cNvPr>
          <p:cNvSpPr/>
          <p:nvPr/>
        </p:nvSpPr>
        <p:spPr>
          <a:xfrm>
            <a:off x="713232" y="883920"/>
            <a:ext cx="1106424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spcAft>
                <a:spcPts val="600"/>
              </a:spcAft>
            </a:pPr>
            <a:r>
              <a:rPr lang="en-US" sz="2000" dirty="0"/>
              <a:t>Traditional time-series models often assume that data is collected at </a:t>
            </a:r>
            <a:r>
              <a:rPr lang="en-US" sz="2000" b="1" dirty="0"/>
              <a:t>regular</a:t>
            </a:r>
            <a:r>
              <a:rPr lang="en-US" sz="2000" dirty="0"/>
              <a:t> intervals and consists only of numbers. </a:t>
            </a:r>
          </a:p>
          <a:p>
            <a:pPr algn="just">
              <a:spcAft>
                <a:spcPts val="600"/>
              </a:spcAft>
            </a:pPr>
            <a:r>
              <a:rPr lang="en-US" sz="2000" dirty="0"/>
              <a:t>However, real-world environmental data (like air quality) is often </a:t>
            </a:r>
            <a:r>
              <a:rPr lang="en-US" sz="2000" b="1" dirty="0"/>
              <a:t>irregular and multimodal </a:t>
            </a:r>
            <a:r>
              <a:rPr lang="en-US" sz="2000" dirty="0"/>
              <a:t>containing sensor readings alongside text-based reports or location metadata. This project utilizes the </a:t>
            </a:r>
            <a:r>
              <a:rPr lang="en-US" sz="2000" b="1" dirty="0"/>
              <a:t>TIME-IMM</a:t>
            </a:r>
            <a:r>
              <a:rPr lang="en-US" sz="2000" dirty="0"/>
              <a:t> benchmark to bridge the gap between clean laboratory datasets and complex, real-world deployment scenarios.</a:t>
            </a:r>
          </a:p>
        </p:txBody>
      </p:sp>
    </p:spTree>
    <p:extLst>
      <p:ext uri="{BB962C8B-B14F-4D97-AF65-F5344CB8AC3E}">
        <p14:creationId xmlns:p14="http://schemas.microsoft.com/office/powerpoint/2010/main" val="1078943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EPA-Air: the most irregular dataset in TIME-IMM</a:t>
            </a:r>
            <a:endParaRPr lang="en-US" sz="3000" dirty="0"/>
          </a:p>
        </p:txBody>
      </p:sp>
      <p:pic>
        <p:nvPicPr>
          <p:cNvPr id="5" name="Image 0" descr="/home/claude/deck/figures/fig01_asynchron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00200"/>
            <a:ext cx="8138160" cy="4480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778240" y="1691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778240" y="21488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778240" y="24048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778240" y="28620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778240" y="311810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49,552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8778240" y="35753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778240" y="383133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1,244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8778240" y="428853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entries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8240 — Class Project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tracks, one dataset [EPA-Air]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577840" cy="4434840"/>
          </a:xfrm>
          <a:prstGeom prst="rect">
            <a:avLst/>
          </a:prstGeom>
          <a:solidFill>
            <a:srgbClr val="F7F9FB"/>
          </a:solidFill>
          <a:ln w="6350">
            <a:solidFill>
              <a:srgbClr val="B8C5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109728" cy="4434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· REPRODUCTION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Rerun 11 baselines on EPA-Air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77240" y="310896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Regular:  </a:t>
            </a:r>
            <a:r>
              <a:rPr lang="en-US" sz="13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DLinear, Informer, PatchTST, TimesNet, TimeMixer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TS:  </a:t>
            </a:r>
            <a:r>
              <a:rPr lang="en-US" sz="13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TTM, TimeLLM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Irregular:  </a:t>
            </a:r>
            <a:r>
              <a:rPr lang="en-US" sz="13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tPatchGNN, CRU, LatentODE, NeuralFlow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49377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2651760" y="49377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reproduced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(~30 min total on A100)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737360"/>
            <a:ext cx="5486400" cy="4434840"/>
          </a:xfrm>
          <a:prstGeom prst="rect">
            <a:avLst/>
          </a:prstGeom>
          <a:solidFill>
            <a:srgbClr val="F7F9FB"/>
          </a:solidFill>
          <a:ln w="6350">
            <a:solidFill>
              <a:srgbClr val="B8C5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17920" y="1737360"/>
            <a:ext cx="109728" cy="443484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37960" y="1965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 · METHODOLOGICAL EXTENSION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37960" y="23774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novel ablations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6583680" y="3108960"/>
            <a:ext cx="502920" cy="50292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8368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23760" y="31089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ablation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23760" y="33832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vs BERT per model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83680" y="4023360"/>
            <a:ext cx="502920" cy="50292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8368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23760" y="40233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interaction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23760" y="42976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Patch-based vs Non-patch × encoder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83680" y="4937760"/>
            <a:ext cx="502920" cy="50292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8368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23760" y="49377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Placebo test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223760" y="52120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text vs distribution-matched noise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8240 — Class Project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REPRODUCTION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helps 4 of 7 models (matches paper's direction)</a:t>
            </a:r>
            <a:endParaRPr lang="en-US" sz="3000" dirty="0"/>
          </a:p>
        </p:txBody>
      </p:sp>
      <p:pic>
        <p:nvPicPr>
          <p:cNvPr id="5" name="Image 0" descr="/home/claude/deck/figures/fig02_uni_vs_mult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08760"/>
            <a:ext cx="8229600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15400" y="16002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915400" y="2011680"/>
            <a:ext cx="2971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DLinear  </a:t>
            </a:r>
            <a:r>
              <a:rPr lang="en-US" sz="13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overall at </a:t>
            </a: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0.509</a:t>
            </a:r>
            <a:r>
              <a:rPr lang="en-US" sz="13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simplest model, best accuracy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helps </a:t>
            </a: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r>
              <a:rPr lang="en-US" sz="13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models (green)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hurts </a:t>
            </a:r>
            <a:r>
              <a:rPr lang="en-US" sz="1300" b="1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r>
              <a:rPr lang="en-US" sz="13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models (red) — all patch-based architectures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gain: Informer </a:t>
            </a: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−8.3%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5760720"/>
            <a:ext cx="11247120" cy="502920"/>
          </a:xfrm>
          <a:prstGeom prst="rect">
            <a:avLst/>
          </a:prstGeom>
          <a:solidFill>
            <a:srgbClr val="F7F9FB"/>
          </a:solidFill>
          <a:ln w="6350">
            <a:solidFill>
              <a:srgbClr val="B8C5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" y="57607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MSE reduction from text: </a:t>
            </a:r>
            <a:r>
              <a:rPr lang="en-US" sz="14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−2.1%</a:t>
            </a:r>
            <a:r>
              <a:rPr lang="en-US" sz="1300" dirty="0">
                <a:solidFill>
                  <a:srgbClr val="2C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Paper's reported average: </a:t>
            </a: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−6.7%</a:t>
            </a:r>
            <a:r>
              <a:rPr lang="en-US" sz="1300" i="1" dirty="0">
                <a:solidFill>
                  <a:srgbClr val="2C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EPA-Air text is weaker than the cross-dataset average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8240 — Class Project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FIDELITY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track the paper closely</a:t>
            </a:r>
            <a:endParaRPr lang="en-US" sz="3000" dirty="0"/>
          </a:p>
        </p:txBody>
      </p:sp>
      <p:pic>
        <p:nvPicPr>
          <p:cNvPr id="5" name="Image 0" descr="/home/claude/deck/figures/fig03_pa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600200"/>
            <a:ext cx="5029200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0" y="1691640"/>
            <a:ext cx="4846320" cy="1325880"/>
          </a:xfrm>
          <a:prstGeom prst="rect">
            <a:avLst/>
          </a:prstGeom>
          <a:solidFill>
            <a:srgbClr val="F7F9FB"/>
          </a:solidFill>
          <a:ln w="6350">
            <a:solidFill>
              <a:srgbClr val="B8C5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858000" y="1691640"/>
            <a:ext cx="91440" cy="132588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132320" y="18013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to the diagonal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132320" y="219456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points sit within ±0.05 of the paper's reported MSE — indicates reproduction fidelity.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858000" y="3246120"/>
            <a:ext cx="4846320" cy="1325880"/>
          </a:xfrm>
          <a:prstGeom prst="rect">
            <a:avLst/>
          </a:prstGeom>
          <a:solidFill>
            <a:srgbClr val="F7F9FB"/>
          </a:solidFill>
          <a:ln w="6350">
            <a:solidFill>
              <a:srgbClr val="B8C5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858000" y="3246120"/>
            <a:ext cx="91440" cy="132588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132320" y="33558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tPatchGNN is the outlier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132320" y="374904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patch_size=24 crashes on EPA-Air's sparsity; we use patch_size=4, which trains but degrades performance.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858000" y="4800600"/>
            <a:ext cx="4846320" cy="1325880"/>
          </a:xfrm>
          <a:prstGeom prst="rect">
            <a:avLst/>
          </a:prstGeom>
          <a:solidFill>
            <a:srgbClr val="F7F9FB"/>
          </a:solidFill>
          <a:ln w="6350">
            <a:solidFill>
              <a:srgbClr val="B8C5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858000" y="4800600"/>
            <a:ext cx="91440" cy="1325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132320" y="49103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132320" y="530352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infrastructure and numbers are trustworthy — a solid base for the Track C extensions that follow.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8240 — Class Project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32004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4 of 11 models failed on EPA-Air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703320" cy="4480560"/>
          </a:xfrm>
          <a:prstGeom prst="rect">
            <a:avLst/>
          </a:prstGeom>
          <a:solidFill>
            <a:srgbClr val="F7F9FB"/>
          </a:solidFill>
          <a:ln w="1905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3703320" cy="109728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Patch-based models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C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TimeLLM  ·  tPatchGNN*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3154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patch_size=24 requires more observations per window than EPA-Air's sparse features can supply. TimeLLM has additional hard-coded token lengths.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5394960"/>
            <a:ext cx="3154680" cy="27432"/>
          </a:xfrm>
          <a:prstGeom prst="rect">
            <a:avLst/>
          </a:prstGeom>
          <a:solidFill>
            <a:srgbClr val="B8C5D1"/>
          </a:solidFill>
          <a:ln w="12700">
            <a:solidFill>
              <a:srgbClr val="B8C5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54406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Observability = 0.38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(lowest in TIME-IMM)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1737360"/>
            <a:ext cx="3703320" cy="4480560"/>
          </a:xfrm>
          <a:prstGeom prst="rect">
            <a:avLst/>
          </a:prstGeom>
          <a:solidFill>
            <a:srgbClr val="F7F9FB"/>
          </a:solidFill>
          <a:ln w="19050">
            <a:solidFill>
              <a:srgbClr val="C84B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297680" y="1737360"/>
            <a:ext cx="3703320" cy="109728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0" y="20574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ODE-based models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0" y="2606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C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  ·  LatentODE  ·  NeuralFlow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3108960"/>
            <a:ext cx="3154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integration at every forward pass is prohibitively slow on asynchronous multi-source data with fine-grained timestamps.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0" y="5394960"/>
            <a:ext cx="3154680" cy="27432"/>
          </a:xfrm>
          <a:prstGeom prst="rect">
            <a:avLst/>
          </a:prstGeom>
          <a:solidFill>
            <a:srgbClr val="B8C5D1"/>
          </a:solidFill>
          <a:ln w="12700">
            <a:solidFill>
              <a:srgbClr val="B8C5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0" y="54406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IOI = 1.02 hours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expensive ODE solving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38160" y="1737360"/>
            <a:ext cx="3703320" cy="4480560"/>
          </a:xfrm>
          <a:prstGeom prst="rect">
            <a:avLst/>
          </a:prstGeom>
          <a:solidFill>
            <a:srgbClr val="F7F9FB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138160" y="1737360"/>
            <a:ext cx="3703320" cy="1097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412480" y="20574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12480" y="3108960"/>
            <a:ext cx="3154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EPA-Air's extreme asynchrony (170× sampling-rate spread) challenges model assumptions across multiple architectures — not just one family.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412480" y="5394960"/>
            <a:ext cx="3154680" cy="27432"/>
          </a:xfrm>
          <a:prstGeom prst="rect">
            <a:avLst/>
          </a:prstGeom>
          <a:solidFill>
            <a:srgbClr val="B8C5D1"/>
          </a:solidFill>
          <a:ln w="12700">
            <a:solidFill>
              <a:srgbClr val="B8C5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412480" y="54406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are themselves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findings, not setbacks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tPatchGNN trained with modified patch_size=4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8240 — Class Project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32004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 · ABLATION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text encoder matter?</a:t>
            </a:r>
            <a:endParaRPr lang="en-US" sz="3000" dirty="0"/>
          </a:p>
        </p:txBody>
      </p:sp>
      <p:pic>
        <p:nvPicPr>
          <p:cNvPr id="5" name="Image 0" descr="/home/claude/deck/figures/fig07_gpt2_vs_b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54480"/>
            <a:ext cx="8503920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052560" y="1645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claims (Fig 6c):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052560" y="20116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2C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choice of LLM backbone does not strongly influence results."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052560" y="3200400"/>
            <a:ext cx="2834640" cy="27432"/>
          </a:xfrm>
          <a:prstGeom prst="rect">
            <a:avLst/>
          </a:prstGeom>
          <a:solidFill>
            <a:srgbClr val="B8C5D1"/>
          </a:solidFill>
          <a:ln w="12700">
            <a:solidFill>
              <a:srgbClr val="B8C5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052560" y="33375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find on EPA-Air: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052560" y="37490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wins: </a:t>
            </a: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models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wins: </a:t>
            </a: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models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i="1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flips TTM from 'text hurts' to 'text helps' (−7.3%)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5760720"/>
            <a:ext cx="1124712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" y="57607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most irregular dataset, encoder choice matters — a pattern invisible when averaging across datasets.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8240 — Class Project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32004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 · ABLATION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cleaner story: architecture family × encoder</a:t>
            </a:r>
            <a:endParaRPr lang="en-US" sz="3000" dirty="0"/>
          </a:p>
        </p:txBody>
      </p:sp>
      <p:pic>
        <p:nvPicPr>
          <p:cNvPr id="5" name="Image 0" descr="/home/claude/deck/figures/fig08_fam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00200"/>
            <a:ext cx="6583680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269480" y="1737360"/>
            <a:ext cx="4617720" cy="1874520"/>
          </a:xfrm>
          <a:prstGeom prst="rect">
            <a:avLst/>
          </a:prstGeom>
          <a:solidFill>
            <a:srgbClr val="F7F9FB"/>
          </a:solidFill>
          <a:ln w="1905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498080" y="182880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NON-PATCH MODELS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0" y="21945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reliably helps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498080" y="269748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−4.8% with either encoder. GPT-2 and BERT are interchangeable. The paper's Fig 6c claim holds here.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269480" y="3749040"/>
            <a:ext cx="4617720" cy="1874520"/>
          </a:xfrm>
          <a:prstGeom prst="rect">
            <a:avLst/>
          </a:prstGeom>
          <a:solidFill>
            <a:srgbClr val="F7F9FB"/>
          </a:solidFill>
          <a:ln w="19050">
            <a:solidFill>
              <a:srgbClr val="C84B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498080" y="384048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PATCH-BASED MODELS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0" y="42062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hurts — but BERT hurts less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7498080" y="470916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degrades by +6.5%, BERT by only +2.4%. Encoder choice matters here — encoder-dataset interaction deserves attention.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5760720"/>
            <a:ext cx="1124712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0080" y="57607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condition on architecture family, encoder effects are large and systematic — the paper's cross-model average masks this.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8240 — Class Project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32004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 · ABLATION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Placebo test: is text actually informative?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1247120" cy="411480"/>
          </a:xfrm>
          <a:prstGeom prst="rect">
            <a:avLst/>
          </a:prstGeom>
          <a:solidFill>
            <a:srgbClr val="F7F9FB"/>
          </a:solidFill>
          <a:ln w="12700">
            <a:solidFill>
              <a:srgbClr val="B8C5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</a:t>
            </a:r>
            <a:r>
              <a:rPr lang="en-US" sz="1100" i="1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real GPT-2 text embeddings with random noise of matching mean, std, and shape. If models can't tell them apart, the fusion module is acting as a regularizer — not semantic integration.</a:t>
            </a:r>
            <a:endParaRPr lang="en-US" sz="1100" dirty="0"/>
          </a:p>
        </p:txBody>
      </p:sp>
      <p:pic>
        <p:nvPicPr>
          <p:cNvPr id="7" name="Image 0" descr="/home/claude/deck/figures/fig09_placeb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103120"/>
            <a:ext cx="8412480" cy="3657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15400" y="2148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BY MODEL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915400" y="2514600"/>
            <a:ext cx="3017520" cy="914400"/>
          </a:xfrm>
          <a:prstGeom prst="rect">
            <a:avLst/>
          </a:prstGeom>
          <a:solidFill>
            <a:srgbClr val="F7F9FB"/>
          </a:solidFill>
          <a:ln w="1524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006840" y="256032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9692640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helps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692640" y="2971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C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DLinear, PatchTST, TimesNet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915400" y="3520440"/>
            <a:ext cx="3017520" cy="914400"/>
          </a:xfrm>
          <a:prstGeom prst="rect">
            <a:avLst/>
          </a:prstGeom>
          <a:solidFill>
            <a:srgbClr val="F7F9FB"/>
          </a:solidFill>
          <a:ln w="15240">
            <a:solidFill>
              <a:srgbClr val="C84B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006840" y="356616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9692640" y="3611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hurts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692640" y="3977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C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Informer, TimeMixer, tPatchGNN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915400" y="4526280"/>
            <a:ext cx="3017520" cy="914400"/>
          </a:xfrm>
          <a:prstGeom prst="rect">
            <a:avLst/>
          </a:prstGeom>
          <a:solidFill>
            <a:srgbClr val="F7F9FB"/>
          </a:solidFill>
          <a:ln w="15240">
            <a:solidFill>
              <a:srgbClr val="2C35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006840" y="45720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C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9692640" y="4617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Placebo (tie)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692640" y="4983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C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TTM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" y="5943600"/>
            <a:ext cx="11247120" cy="50292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40080" y="59436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3 of 7 models, random noise outperforms real text — a finding the paper doesn't check for.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8240 — Class Project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findings from Track C that the paper misses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1920240" y="1691640"/>
            <a:ext cx="9784080" cy="1280160"/>
          </a:xfrm>
          <a:prstGeom prst="rect">
            <a:avLst/>
          </a:prstGeom>
          <a:solidFill>
            <a:srgbClr val="F7F9FB"/>
          </a:solidFill>
          <a:ln w="6350">
            <a:solidFill>
              <a:srgbClr val="B8C5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920240" y="1691640"/>
            <a:ext cx="91440" cy="1280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148840" y="182880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choice is not uniformly irrelevant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48840" y="224028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C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Contradicts Paper Fig 6c. On EPA-Air — the most irregular dataset — GPT-2 vs BERT flips the winner for 3 of 7 models. The interchangeability claim holds only on average.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Shape 9"/>
          <p:cNvSpPr/>
          <p:nvPr/>
        </p:nvSpPr>
        <p:spPr>
          <a:xfrm>
            <a:off x="1920240" y="3200400"/>
            <a:ext cx="9784080" cy="1280160"/>
          </a:xfrm>
          <a:prstGeom prst="rect">
            <a:avLst/>
          </a:prstGeom>
          <a:solidFill>
            <a:srgbClr val="F7F9FB"/>
          </a:solidFill>
          <a:ln w="6350">
            <a:solidFill>
              <a:srgbClr val="B8C5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920240" y="3200400"/>
            <a:ext cx="91440" cy="128016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148840" y="33375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family predicts encoder behavior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148840" y="374904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C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Patch-based models (PatchTST, TTM, tPatchGNN) are hurt by text, but less so with BERT (+2.4% vs +6.5% with GPT-2). Non-patch models are helped equally by either encoder (~−4.8%).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70916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Shape 14"/>
          <p:cNvSpPr/>
          <p:nvPr/>
        </p:nvSpPr>
        <p:spPr>
          <a:xfrm>
            <a:off x="1920240" y="4709160"/>
            <a:ext cx="9784080" cy="1280160"/>
          </a:xfrm>
          <a:prstGeom prst="rect">
            <a:avLst/>
          </a:prstGeom>
          <a:solidFill>
            <a:srgbClr val="F7F9FB"/>
          </a:solidFill>
          <a:ln w="6350">
            <a:solidFill>
              <a:srgbClr val="B8C5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920240" y="4709160"/>
            <a:ext cx="91440" cy="128016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148840" y="484632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text can be worse than random noise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148840" y="525780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C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3 of 7 models, distribution-matched noise beats real GPT-2 embeddings. Suggests part of the 'text helps' gain reported in the paper is regularization, not semantic content.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8240 — Class Project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822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2344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reproduction to poster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ANALYTICS DAY (APR 20)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 layout using 9 ready figures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3-seed robustness check on the placebo result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final figures at poster DPI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0" y="2377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MAY 4 (FINAL)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0" y="274320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6–10 page report with full methodology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documented GitHub repo (reproducibility)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 class presentation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5623560"/>
            <a:ext cx="73152" cy="77724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56235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
</a:t>
            </a:r>
            <a:endParaRPr lang="en-US" sz="2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B8C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paper: Chang et al., "TIME-IMM: A Dataset and Benchmark for Irregular Multimodal Multivariate Time Series," NeurIPS 2025.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1188</Words>
  <Application>Microsoft Macintosh PowerPoint</Application>
  <PresentationFormat>Widescreen</PresentationFormat>
  <Paragraphs>166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TIME-IMM Reproduction + Track C Ablations</dc:title>
  <dc:subject>PptxGenJS Presentation</dc:subject>
  <dc:creator>STAT 8240 Class Project</dc:creator>
  <cp:lastModifiedBy>Anil Vallepu</cp:lastModifiedBy>
  <cp:revision>9</cp:revision>
  <dcterms:created xsi:type="dcterms:W3CDTF">2026-04-16T05:16:14Z</dcterms:created>
  <dcterms:modified xsi:type="dcterms:W3CDTF">2026-04-17T03:02:14Z</dcterms:modified>
</cp:coreProperties>
</file>